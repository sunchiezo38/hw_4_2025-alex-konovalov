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2"/>
  </p:notesMasterIdLst>
  <p:sldIdLst>
    <p:sldId id="271" r:id="rId5"/>
    <p:sldId id="272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9" r:id="rId36"/>
    <p:sldId id="315" r:id="rId37"/>
    <p:sldId id="316" r:id="rId38"/>
    <p:sldId id="317" r:id="rId39"/>
    <p:sldId id="318" r:id="rId40"/>
    <p:sldId id="285" r:id="rId41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D6A7"/>
    <a:srgbClr val="1E293B"/>
    <a:srgbClr val="0F172A"/>
    <a:srgbClr val="38BDF8"/>
    <a:srgbClr val="9CC3EF"/>
    <a:srgbClr val="E8F1F9"/>
    <a:srgbClr val="029C63"/>
    <a:srgbClr val="96628C"/>
    <a:srgbClr val="11A0D7"/>
    <a:srgbClr val="E61F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31" autoAdjust="0"/>
    <p:restoredTop sz="94694"/>
  </p:normalViewPr>
  <p:slideViewPr>
    <p:cSldViewPr snapToGrid="0" snapToObjects="1">
      <p:cViewPr varScale="1">
        <p:scale>
          <a:sx n="106" d="100"/>
          <a:sy n="106" d="100"/>
        </p:scale>
        <p:origin x="1152" y="9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03/24/2026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03/24/2026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435" y="2439838"/>
            <a:ext cx="7002457" cy="1978323"/>
          </a:xfrm>
        </p:spPr>
        <p:txBody>
          <a:bodyPr>
            <a:normAutofit/>
          </a:bodyPr>
          <a:lstStyle/>
          <a:p>
            <a:r>
              <a:rPr lang="ru-RU" dirty="0"/>
              <a:t>Домашнее задание по теме «Реляционные базы данных» </a:t>
            </a:r>
            <a:endParaRPr lang="ru-RU" sz="28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МИЭМ НИУ ВШЭ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Александр Коновалов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МСМТ241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/>
              <a:t>Москва 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00FFF6-3659-4A34-4224-6189B5A1AA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DDB56A2-B4CF-3706-0151-BC75518FAC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en-US" dirty="0" err="1"/>
              <a:t>dvd_rental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303DDC-FAF4-F721-3CE2-3DB1DDE9C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015" y="279508"/>
            <a:ext cx="3631949" cy="10745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76753E6-FB54-C4A3-00F7-837E290BA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552" y="1380456"/>
            <a:ext cx="9099106" cy="511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7153-F311-1E62-D879-28B5A6BE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FE5B3EE-8EA9-C7F3-E01F-67B487E017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3791407-C3DE-199E-A947-A04C4A7D9E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BAC2D9A-3493-50C9-7E09-6586F1A19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1. Вывести список всех клиентов (</a:t>
            </a:r>
            <a:r>
              <a:rPr lang="ru-RU" dirty="0" err="1"/>
              <a:t>customer</a:t>
            </a:r>
            <a:r>
              <a:rPr lang="ru-RU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B5921-6AD6-2A78-44C5-2854D6649D19}"/>
              </a:ext>
            </a:extLst>
          </p:cNvPr>
          <p:cNvSpPr txBox="1"/>
          <p:nvPr/>
        </p:nvSpPr>
        <p:spPr>
          <a:xfrm>
            <a:off x="1394610" y="106258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*</a:t>
            </a:r>
            <a:br>
              <a:rPr lang="en-US" dirty="0"/>
            </a:br>
            <a:r>
              <a:rPr lang="en-US" dirty="0"/>
              <a:t>FROM customer;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806BDC0-151C-9539-83D3-542506614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24" y="2330039"/>
            <a:ext cx="11033156" cy="377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70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ACBE9-66E6-3040-6EA1-179AA4A69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690AFC8-BD6F-D367-29EF-A9C78AA70B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29FD5F5-5C20-261A-EA72-4162DF9AF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406D0DD-C962-4830-CE69-08D7A5D10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Вывести список имен и фамилий клиентов с именем </a:t>
            </a:r>
            <a:r>
              <a:rPr lang="ru-RU" dirty="0" err="1"/>
              <a:t>Carolyn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2CA53-C95B-73BE-4208-4C89390D4053}"/>
              </a:ext>
            </a:extLst>
          </p:cNvPr>
          <p:cNvSpPr txBox="1"/>
          <p:nvPr/>
        </p:nvSpPr>
        <p:spPr>
          <a:xfrm>
            <a:off x="1481379" y="1050775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</a:t>
            </a:r>
            <a:br>
              <a:rPr lang="en-US" dirty="0"/>
            </a:br>
            <a:r>
              <a:rPr lang="en-US" dirty="0" err="1"/>
              <a:t>first_name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last_name</a:t>
            </a:r>
            <a:br>
              <a:rPr lang="en-US" dirty="0"/>
            </a:br>
            <a:r>
              <a:rPr lang="en-US" dirty="0"/>
              <a:t>FROM customer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first_name</a:t>
            </a:r>
            <a:r>
              <a:rPr lang="en-US" dirty="0"/>
              <a:t> = 'Carolyn';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671E0F7-AD94-4BCB-0AB1-AB8E4BFC3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498" y="3109868"/>
            <a:ext cx="3077004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036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141C2-82EF-47F0-C478-F9519503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3DE3DFE-51C7-3560-C174-348CAB5628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2F763A-F24A-25A5-CABF-0F45307860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777ECC8-116C-6934-169D-D34F33F3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Вывести полные имена клиентов (имя + фамилия), имя или фамилия которых содержит “</a:t>
            </a:r>
            <a:r>
              <a:rPr lang="ru-RU" dirty="0" err="1"/>
              <a:t>ary</a:t>
            </a:r>
            <a:r>
              <a:rPr lang="ru-RU" dirty="0"/>
              <a:t>” (например: Mary, </a:t>
            </a:r>
            <a:r>
              <a:rPr lang="ru-RU" dirty="0" err="1"/>
              <a:t>Geary</a:t>
            </a:r>
            <a:r>
              <a:rPr lang="ru-RU" dirty="0"/>
              <a:t>), в одной колонке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149BAC-A1F0-7DFE-4FCC-27F8734B9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46" y="3268626"/>
            <a:ext cx="10381307" cy="3055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059C7E-E4B8-B063-069F-106BCF657EFB}"/>
              </a:ext>
            </a:extLst>
          </p:cNvPr>
          <p:cNvSpPr txBox="1"/>
          <p:nvPr/>
        </p:nvSpPr>
        <p:spPr>
          <a:xfrm>
            <a:off x="905346" y="1585877"/>
            <a:ext cx="60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</a:t>
            </a:r>
            <a:br>
              <a:rPr lang="en-US" dirty="0"/>
            </a:br>
            <a:r>
              <a:rPr lang="en-US" dirty="0" err="1"/>
              <a:t>first_name</a:t>
            </a:r>
            <a:r>
              <a:rPr lang="en-US" dirty="0"/>
              <a:t> || ' ' || </a:t>
            </a:r>
            <a:r>
              <a:rPr lang="en-US" dirty="0" err="1"/>
              <a:t>last_name</a:t>
            </a:r>
            <a:r>
              <a:rPr lang="en-US" dirty="0"/>
              <a:t> AS </a:t>
            </a:r>
            <a:r>
              <a:rPr lang="en-US" dirty="0" err="1"/>
              <a:t>full_name</a:t>
            </a:r>
            <a:br>
              <a:rPr lang="en-US" dirty="0"/>
            </a:br>
            <a:r>
              <a:rPr lang="en-US" dirty="0"/>
              <a:t>FROM customer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first_name</a:t>
            </a:r>
            <a:r>
              <a:rPr lang="en-US" dirty="0"/>
              <a:t> ILIKE '%</a:t>
            </a:r>
            <a:r>
              <a:rPr lang="en-US" dirty="0" err="1"/>
              <a:t>ary</a:t>
            </a:r>
            <a:r>
              <a:rPr lang="en-US" dirty="0"/>
              <a:t>%'</a:t>
            </a:r>
            <a:br>
              <a:rPr lang="en-US" dirty="0"/>
            </a:br>
            <a:r>
              <a:rPr lang="en-US" dirty="0"/>
              <a:t>OR </a:t>
            </a:r>
            <a:r>
              <a:rPr lang="en-US" dirty="0" err="1"/>
              <a:t>last_name</a:t>
            </a:r>
            <a:r>
              <a:rPr lang="en-US" dirty="0"/>
              <a:t> ILIKE '%</a:t>
            </a:r>
            <a:r>
              <a:rPr lang="en-US" dirty="0" err="1"/>
              <a:t>ary</a:t>
            </a:r>
            <a:r>
              <a:rPr lang="en-US" dirty="0"/>
              <a:t>%';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9749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7A5F-FF61-B124-F899-0D01B7DD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76A052-2DDB-211F-60BC-D065C4C574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67CE9D-2F86-1429-B9C5-6C2F8E7066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4CEFC55-710B-16D4-1C15-E827B5EF1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Вывести 20 самых крупных транзакций (</a:t>
            </a:r>
            <a:r>
              <a:rPr lang="ru-RU" dirty="0" err="1"/>
              <a:t>payment</a:t>
            </a:r>
            <a:r>
              <a:rPr lang="ru-RU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2023B-D229-77BB-51AA-4B08B349D72C}"/>
              </a:ext>
            </a:extLst>
          </p:cNvPr>
          <p:cNvSpPr txBox="1"/>
          <p:nvPr/>
        </p:nvSpPr>
        <p:spPr>
          <a:xfrm>
            <a:off x="1394610" y="942252"/>
            <a:ext cx="60975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*</a:t>
            </a:r>
            <a:br>
              <a:rPr lang="en-US" dirty="0"/>
            </a:br>
            <a:r>
              <a:rPr lang="en-US" dirty="0"/>
              <a:t>FROM payment</a:t>
            </a:r>
            <a:br>
              <a:rPr lang="en-US" dirty="0"/>
            </a:br>
            <a:r>
              <a:rPr lang="en-US" dirty="0"/>
              <a:t>ORDER BY amount DESC, </a:t>
            </a:r>
            <a:r>
              <a:rPr lang="en-US" dirty="0" err="1"/>
              <a:t>payment_id</a:t>
            </a:r>
            <a:r>
              <a:rPr lang="en-US" dirty="0"/>
              <a:t> ASC</a:t>
            </a:r>
            <a:br>
              <a:rPr lang="en-US" dirty="0"/>
            </a:br>
            <a:r>
              <a:rPr lang="en-US" dirty="0"/>
              <a:t>LIMIT 20;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9A936-A641-F98E-8C67-5D0678EA7808}"/>
              </a:ext>
            </a:extLst>
          </p:cNvPr>
          <p:cNvSpPr txBox="1"/>
          <p:nvPr/>
        </p:nvSpPr>
        <p:spPr>
          <a:xfrm>
            <a:off x="2369745" y="3429000"/>
            <a:ext cx="59112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/>
              <a:t>20403	362	1	14759	11.99	2007-03-21 21:57:24.996</a:t>
            </a:r>
          </a:p>
          <a:p>
            <a:r>
              <a:rPr lang="ru-RU" sz="900" dirty="0"/>
              <a:t>22650	204	2	15415	11.99	2007-03-22 22:17:22.996</a:t>
            </a:r>
          </a:p>
          <a:p>
            <a:r>
              <a:rPr lang="ru-RU" sz="900" dirty="0"/>
              <a:t>23757	116	2	14763	11.99	2007-03-21 22:02:26.996</a:t>
            </a:r>
          </a:p>
          <a:p>
            <a:r>
              <a:rPr lang="ru-RU" sz="900" dirty="0"/>
              <a:t>24553	195	2	16040	11.99	2007-03-23 20:47:59.996</a:t>
            </a:r>
          </a:p>
          <a:p>
            <a:r>
              <a:rPr lang="ru-RU" sz="900" dirty="0"/>
              <a:t>24866	237	2	11479	11.99	2007-03-02 20:46:39.996</a:t>
            </a:r>
          </a:p>
          <a:p>
            <a:r>
              <a:rPr lang="ru-RU" sz="900" dirty="0"/>
              <a:t>28799	591	2	4383	11.99	2007-04-07 19:14:17.996</a:t>
            </a:r>
          </a:p>
          <a:p>
            <a:r>
              <a:rPr lang="ru-RU" sz="900" dirty="0"/>
              <a:t>28814	592	1	3973	11.99	2007-04-06 21:26:57.996</a:t>
            </a:r>
          </a:p>
          <a:p>
            <a:r>
              <a:rPr lang="ru-RU" sz="900" dirty="0"/>
              <a:t>29136	13	2	8831	11.99	2007-04-29 21:06:07.996</a:t>
            </a:r>
          </a:p>
          <a:p>
            <a:r>
              <a:rPr lang="ru-RU" sz="900" dirty="0"/>
              <a:t>18035	477	1	2306	10.99	2007-02-18 07:01:49.996</a:t>
            </a:r>
          </a:p>
          <a:p>
            <a:r>
              <a:rPr lang="ru-RU" sz="900" dirty="0"/>
              <a:t>18153	511	2	2966	10.99	2007-02-20 06:07:59.996</a:t>
            </a:r>
          </a:p>
          <a:p>
            <a:r>
              <a:rPr lang="ru-RU" sz="900" dirty="0"/>
              <a:t>18175	516	1	1718	10.99	2007-02-16 13:20:28.996</a:t>
            </a:r>
          </a:p>
          <a:p>
            <a:r>
              <a:rPr lang="ru-RU" sz="900" dirty="0"/>
              <a:t>18265	542	2	2957	10.99	2007-02-20 05:22:13.996</a:t>
            </a:r>
          </a:p>
          <a:p>
            <a:r>
              <a:rPr lang="ru-RU" sz="900" dirty="0"/>
              <a:t>18272	544	2	1434	10.99	2007-02-15 16:59:12.996</a:t>
            </a:r>
          </a:p>
          <a:p>
            <a:r>
              <a:rPr lang="ru-RU" sz="900" dirty="0"/>
              <a:t>18290	550	1	3272	10.99	2007-02-21 03:46:53.996</a:t>
            </a:r>
          </a:p>
          <a:p>
            <a:r>
              <a:rPr lang="ru-RU" sz="900" dirty="0"/>
              <a:t>18315	558	2	3451	10.99	2007-02-21 19:39:05.996</a:t>
            </a:r>
          </a:p>
          <a:p>
            <a:r>
              <a:rPr lang="ru-RU" sz="900" dirty="0"/>
              <a:t>18366	571	1	2977	10.99	2007-02-20 06:43:53.996</a:t>
            </a:r>
          </a:p>
          <a:p>
            <a:r>
              <a:rPr lang="ru-RU" sz="900" dirty="0"/>
              <a:t>18367	572	2	1889	10.99	2007-02-17 02:33:38.996</a:t>
            </a:r>
          </a:p>
          <a:p>
            <a:r>
              <a:rPr lang="ru-RU" sz="900" dirty="0"/>
              <a:t>18576	21	1	3212	10.99	2007-02-20 23:33:01.996</a:t>
            </a:r>
          </a:p>
          <a:p>
            <a:r>
              <a:rPr lang="ru-RU" sz="900" dirty="0"/>
              <a:t>18640	33	1	1301	10.99	2007-02-15 08:14:59.996</a:t>
            </a:r>
          </a:p>
          <a:p>
            <a:r>
              <a:rPr lang="ru-RU" sz="900" dirty="0"/>
              <a:t>19336	221	1	2660	10.99	2007-02-19 09:18:28.996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FFF891D-A598-B9E5-CCDB-D604829C2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745" y="3168755"/>
            <a:ext cx="5911263" cy="2602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FBF329-1EF4-F5FD-1C11-6A3459252C5F}"/>
              </a:ext>
            </a:extLst>
          </p:cNvPr>
          <p:cNvSpPr txBox="1"/>
          <p:nvPr/>
        </p:nvSpPr>
        <p:spPr>
          <a:xfrm>
            <a:off x="10185149" y="2697933"/>
            <a:ext cx="1319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>
                <a:latin typeface="HSE Sans" panose="02000000000000000000" pitchFamily="2" charset="0"/>
              </a:rPr>
              <a:t>Max payment = 11.99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4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098E3-4AFD-9321-4BB7-C5FD2AC9E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3313591-E0A4-B97E-70A2-464046E04D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58891B4-5E16-F709-6576-E77AE9F84C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C6939C5-7290-3080-68A7-8E93C592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Вывести адреса всех магазинов (подзапрос)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DC802D-7AB3-BF19-49A1-4183F66A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10" y="2959304"/>
            <a:ext cx="1648055" cy="6858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F3E85C-19C8-B218-B46B-05F7DC5D46E5}"/>
              </a:ext>
            </a:extLst>
          </p:cNvPr>
          <p:cNvSpPr txBox="1"/>
          <p:nvPr/>
        </p:nvSpPr>
        <p:spPr>
          <a:xfrm>
            <a:off x="1394610" y="1050775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address</a:t>
            </a:r>
            <a:br>
              <a:rPr lang="en-US" dirty="0"/>
            </a:br>
            <a:r>
              <a:rPr lang="en-US" dirty="0"/>
              <a:t>FROM address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address_id</a:t>
            </a:r>
            <a:r>
              <a:rPr lang="en-US" dirty="0"/>
              <a:t> IN (</a:t>
            </a:r>
            <a:br>
              <a:rPr lang="en-US" dirty="0"/>
            </a:br>
            <a:r>
              <a:rPr lang="en-US" dirty="0"/>
              <a:t>SELECT </a:t>
            </a:r>
            <a:r>
              <a:rPr lang="en-US" dirty="0" err="1"/>
              <a:t>address_id</a:t>
            </a:r>
            <a:br>
              <a:rPr lang="en-US" dirty="0"/>
            </a:br>
            <a:r>
              <a:rPr lang="en-US" dirty="0"/>
              <a:t>FROM store</a:t>
            </a:r>
            <a:br>
              <a:rPr lang="en-US" dirty="0"/>
            </a:br>
            <a:r>
              <a:rPr lang="en-US" dirty="0"/>
              <a:t>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6695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B1A86-4141-875F-280C-9F27A395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2D847EF-FA3D-001A-99C5-47D0E7C705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0FE14F-8AF0-9F29-4704-593242E8CA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BB048EC-16B5-9F8A-8580-FDA1B0D43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Вывести число, месяц и день недели в числовом эквиваленте (Понедельник - 1, Вторник - 2 ..) для каждой оплаты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C0F24-BDEB-0F76-9CF3-D615177CCB43}"/>
              </a:ext>
            </a:extLst>
          </p:cNvPr>
          <p:cNvSpPr txBox="1"/>
          <p:nvPr/>
        </p:nvSpPr>
        <p:spPr>
          <a:xfrm>
            <a:off x="459076" y="1522636"/>
            <a:ext cx="60975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</a:t>
            </a:r>
            <a:br>
              <a:rPr lang="en-US" dirty="0"/>
            </a:br>
            <a:r>
              <a:rPr lang="en-US" dirty="0" err="1"/>
              <a:t>payment_id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EXTRACT(DAY FROM </a:t>
            </a:r>
            <a:r>
              <a:rPr lang="en-US" dirty="0" err="1"/>
              <a:t>payment_date</a:t>
            </a:r>
            <a:r>
              <a:rPr lang="en-US" dirty="0"/>
              <a:t>)::int AS </a:t>
            </a:r>
            <a:r>
              <a:rPr lang="en-US" dirty="0" err="1"/>
              <a:t>day_num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EXTRACT(MONTH FROM </a:t>
            </a:r>
            <a:r>
              <a:rPr lang="en-US" dirty="0" err="1"/>
              <a:t>payment_date</a:t>
            </a:r>
            <a:r>
              <a:rPr lang="en-US" dirty="0"/>
              <a:t>)::int AS </a:t>
            </a:r>
            <a:r>
              <a:rPr lang="en-US" dirty="0" err="1"/>
              <a:t>month_num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EXTRACT(ISODOW FROM </a:t>
            </a:r>
            <a:r>
              <a:rPr lang="en-US" dirty="0" err="1"/>
              <a:t>payment_date</a:t>
            </a:r>
            <a:r>
              <a:rPr lang="en-US" dirty="0"/>
              <a:t>)::int AS </a:t>
            </a:r>
            <a:r>
              <a:rPr lang="en-US" dirty="0" err="1"/>
              <a:t>weekday_num</a:t>
            </a:r>
            <a:br>
              <a:rPr lang="en-US" dirty="0"/>
            </a:br>
            <a:r>
              <a:rPr lang="en-US" dirty="0"/>
              <a:t>FROM payment</a:t>
            </a:r>
            <a:br>
              <a:rPr lang="en-US" dirty="0"/>
            </a:br>
            <a:r>
              <a:rPr lang="en-US" dirty="0"/>
              <a:t>ORDER BY </a:t>
            </a:r>
            <a:r>
              <a:rPr lang="en-US" dirty="0" err="1"/>
              <a:t>payment_date</a:t>
            </a:r>
            <a:r>
              <a:rPr lang="en-US" dirty="0"/>
              <a:t>, </a:t>
            </a:r>
            <a:r>
              <a:rPr lang="en-US" dirty="0" err="1"/>
              <a:t>payment_id</a:t>
            </a:r>
            <a:r>
              <a:rPr lang="en-US" dirty="0"/>
              <a:t>;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C6D2FD-4C83-FF90-F3A1-C9BC57569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118" y="1542417"/>
            <a:ext cx="4071057" cy="47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1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48C5A-10EB-43FB-49F0-5E5B22E5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662F77D-A94F-83CA-CC33-D68927700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508E419-0D2A-1551-48E6-07DBE2DEB1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EB9FE71-B69A-6A3C-A1CE-8730D025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Вывести кто (</a:t>
            </a:r>
            <a:r>
              <a:rPr lang="ru-RU" dirty="0" err="1"/>
              <a:t>customer_id</a:t>
            </a:r>
            <a:r>
              <a:rPr lang="ru-RU" dirty="0"/>
              <a:t>), когда (</a:t>
            </a:r>
            <a:r>
              <a:rPr lang="ru-RU" dirty="0" err="1"/>
              <a:t>rental_date</a:t>
            </a:r>
            <a:r>
              <a:rPr lang="ru-RU" dirty="0"/>
              <a:t>) (привести к типу </a:t>
            </a:r>
            <a:r>
              <a:rPr lang="ru-RU" dirty="0" err="1"/>
              <a:t>date</a:t>
            </a:r>
            <a:r>
              <a:rPr lang="ru-RU" dirty="0"/>
              <a:t>) и у кого (</a:t>
            </a:r>
            <a:r>
              <a:rPr lang="ru-RU" dirty="0" err="1"/>
              <a:t>staff_id</a:t>
            </a:r>
            <a:r>
              <a:rPr lang="ru-RU" dirty="0"/>
              <a:t>) брал диски в аренду в Июне 2005 года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C2164F-A1C7-B57A-1B60-57053C395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051" y="1157600"/>
            <a:ext cx="3541562" cy="52589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A1A4EB-7A0A-D141-B5AA-13AA75F8F938}"/>
              </a:ext>
            </a:extLst>
          </p:cNvPr>
          <p:cNvSpPr txBox="1"/>
          <p:nvPr/>
        </p:nvSpPr>
        <p:spPr>
          <a:xfrm>
            <a:off x="1481379" y="1713089"/>
            <a:ext cx="60975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</a:t>
            </a:r>
            <a:br>
              <a:rPr lang="en-US" dirty="0"/>
            </a:br>
            <a:r>
              <a:rPr lang="en-US" dirty="0" err="1"/>
              <a:t>customer_id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rental_date</a:t>
            </a:r>
            <a:r>
              <a:rPr lang="en-US" dirty="0"/>
              <a:t>::date AS </a:t>
            </a:r>
            <a:r>
              <a:rPr lang="en-US" dirty="0" err="1"/>
              <a:t>rental_date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staff_id</a:t>
            </a:r>
            <a:br>
              <a:rPr lang="en-US" dirty="0"/>
            </a:br>
            <a:r>
              <a:rPr lang="en-US" dirty="0"/>
              <a:t>FROM rental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rental_date</a:t>
            </a:r>
            <a:r>
              <a:rPr lang="en-US" dirty="0"/>
              <a:t> &gt;= DATE '2005-06-01'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 err="1"/>
              <a:t>rental_date</a:t>
            </a:r>
            <a:r>
              <a:rPr lang="en-US" dirty="0"/>
              <a:t> &lt; DATE '2005-07-01'</a:t>
            </a:r>
            <a:br>
              <a:rPr lang="en-US" dirty="0"/>
            </a:br>
            <a:r>
              <a:rPr lang="en-US" dirty="0"/>
              <a:t>ORDER BY </a:t>
            </a:r>
            <a:r>
              <a:rPr lang="en-US" dirty="0" err="1"/>
              <a:t>rental_date</a:t>
            </a:r>
            <a:r>
              <a:rPr lang="en-US" dirty="0"/>
              <a:t>, </a:t>
            </a:r>
            <a:r>
              <a:rPr lang="en-US" dirty="0" err="1"/>
              <a:t>customer_id</a:t>
            </a:r>
            <a:r>
              <a:rPr lang="en-US" dirty="0"/>
              <a:t>, </a:t>
            </a:r>
            <a:r>
              <a:rPr lang="en-US" dirty="0" err="1"/>
              <a:t>staff_id</a:t>
            </a:r>
            <a:r>
              <a:rPr lang="en-US" dirty="0"/>
              <a:t>;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082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13F13-697A-08C3-2BB3-13C3ED1D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0040FC5-F12E-DE1F-4AF1-4AE376FCD7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AACF07E-AB9B-1240-391A-E6C6B2B77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F6A81F6-AB3D-C1C3-DB50-68C5BA99D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Вывести название, описание и длительность фильмов (</a:t>
            </a:r>
            <a:r>
              <a:rPr lang="ru-RU" dirty="0" err="1"/>
              <a:t>film</a:t>
            </a:r>
            <a:r>
              <a:rPr lang="ru-RU" dirty="0"/>
              <a:t>), выпущенных после 2000 года. Включить только фильмы длительностью в интервале от 60 до 120 минут (включительно). Показать первые 20 фильмов по длительности (самые длинные).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64953B-AA5D-877C-0324-C1380146B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911" y="2134204"/>
            <a:ext cx="7684546" cy="3664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862B02-A7EF-5935-A883-B149F7F79544}"/>
              </a:ext>
            </a:extLst>
          </p:cNvPr>
          <p:cNvSpPr txBox="1"/>
          <p:nvPr/>
        </p:nvSpPr>
        <p:spPr>
          <a:xfrm>
            <a:off x="459464" y="1972241"/>
            <a:ext cx="67312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</a:t>
            </a:r>
            <a:br>
              <a:rPr lang="en-US" dirty="0"/>
            </a:br>
            <a:r>
              <a:rPr lang="en-US" dirty="0"/>
              <a:t>title,</a:t>
            </a:r>
            <a:br>
              <a:rPr lang="en-US" dirty="0"/>
            </a:br>
            <a:r>
              <a:rPr lang="en-US" dirty="0"/>
              <a:t>description,</a:t>
            </a:r>
            <a:br>
              <a:rPr lang="en-US" dirty="0"/>
            </a:br>
            <a:r>
              <a:rPr lang="en-US" dirty="0"/>
              <a:t>length</a:t>
            </a:r>
            <a:br>
              <a:rPr lang="en-US" dirty="0"/>
            </a:br>
            <a:r>
              <a:rPr lang="en-US" dirty="0"/>
              <a:t>FROM film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release_year</a:t>
            </a:r>
            <a:r>
              <a:rPr lang="en-US" dirty="0"/>
              <a:t>::int &gt; 2000</a:t>
            </a:r>
            <a:br>
              <a:rPr lang="en-US" dirty="0"/>
            </a:br>
            <a:r>
              <a:rPr lang="en-US" dirty="0"/>
              <a:t>AND length BETWEEN 60 AND 120</a:t>
            </a:r>
            <a:br>
              <a:rPr lang="en-US" dirty="0"/>
            </a:br>
            <a:r>
              <a:rPr lang="en-US" dirty="0"/>
              <a:t>ORDER BY length DESC, title ASC</a:t>
            </a:r>
            <a:br>
              <a:rPr lang="en-US" dirty="0"/>
            </a:br>
            <a:r>
              <a:rPr lang="en-US" dirty="0"/>
              <a:t>LIMIT 20;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713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1F504-AA84-51F8-FC08-97C53597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98E4857-ACCD-8572-E6D4-6F7439952B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5B6167-C173-02C5-A25C-C694A5F743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B0FCE16-3830-B578-47C8-22E4C7B6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Найти все платежи (</a:t>
            </a:r>
            <a:r>
              <a:rPr lang="ru-RU" dirty="0" err="1"/>
              <a:t>payment</a:t>
            </a:r>
            <a:r>
              <a:rPr lang="ru-RU" dirty="0"/>
              <a:t>), совершенные в апреле 2007 года, чья стоимость не превышает 4 долларов. Показать идентификатор, дату (без времени) и стоимость платежа. Платежи отобразить в порядке убывания стоимости. При совпадении стоимости, отдать предпочтение более раннему платежу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466CC-3438-7C5E-82F6-3329D7F3A665}"/>
              </a:ext>
            </a:extLst>
          </p:cNvPr>
          <p:cNvSpPr txBox="1"/>
          <p:nvPr/>
        </p:nvSpPr>
        <p:spPr>
          <a:xfrm>
            <a:off x="413071" y="2337779"/>
            <a:ext cx="60975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</a:t>
            </a:r>
            <a:br>
              <a:rPr lang="en-US" dirty="0"/>
            </a:br>
            <a:r>
              <a:rPr lang="en-US" dirty="0" err="1"/>
              <a:t>payment_id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payment_date</a:t>
            </a:r>
            <a:r>
              <a:rPr lang="en-US" dirty="0"/>
              <a:t>::date AS </a:t>
            </a:r>
            <a:r>
              <a:rPr lang="en-US" dirty="0" err="1"/>
              <a:t>payment_date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amount</a:t>
            </a:r>
            <a:br>
              <a:rPr lang="en-US" dirty="0"/>
            </a:br>
            <a:r>
              <a:rPr lang="en-US" dirty="0"/>
              <a:t>FROM payment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payment_date</a:t>
            </a:r>
            <a:r>
              <a:rPr lang="en-US" dirty="0"/>
              <a:t> &gt;= TIMESTAMP '2007-04-01 00:00:00'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 err="1"/>
              <a:t>payment_date</a:t>
            </a:r>
            <a:r>
              <a:rPr lang="en-US" dirty="0"/>
              <a:t> &lt; TIMESTAMP '2007-05-01 00:00:00'</a:t>
            </a:r>
            <a:br>
              <a:rPr lang="en-US" dirty="0"/>
            </a:br>
            <a:r>
              <a:rPr lang="en-US" dirty="0"/>
              <a:t>AND amount &lt;= 4</a:t>
            </a:r>
            <a:br>
              <a:rPr lang="en-US" dirty="0"/>
            </a:br>
            <a:r>
              <a:rPr lang="en-US" dirty="0"/>
              <a:t>ORDER BY amount DESC, </a:t>
            </a:r>
            <a:r>
              <a:rPr lang="en-US" dirty="0" err="1"/>
              <a:t>payment_date</a:t>
            </a:r>
            <a:r>
              <a:rPr lang="en-US" dirty="0"/>
              <a:t> ASC, </a:t>
            </a:r>
            <a:r>
              <a:rPr lang="en-US" dirty="0" err="1"/>
              <a:t>payment_id</a:t>
            </a:r>
            <a:r>
              <a:rPr lang="en-US" dirty="0"/>
              <a:t> ASC;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7DAB643-0161-BF3C-60D1-211F0AFF7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064" y="1774479"/>
            <a:ext cx="3328979" cy="474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728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EA6D-A9BA-FB2E-AF97-5D53103F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7AE0790-67D4-6C63-E03B-56582CDD7B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B5626A7-7707-B3DE-A868-975715A169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2B5DE14-001F-673E-9906-86654FBD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Показать имена, фамилии и идентификаторы всех клиентов с именами “Jack”, “</a:t>
            </a:r>
            <a:r>
              <a:rPr lang="ru-RU" dirty="0" err="1"/>
              <a:t>Bob</a:t>
            </a:r>
            <a:r>
              <a:rPr lang="ru-RU" dirty="0"/>
              <a:t>”, или “</a:t>
            </a:r>
            <a:r>
              <a:rPr lang="ru-RU" dirty="0" err="1"/>
              <a:t>Sara</a:t>
            </a:r>
            <a:r>
              <a:rPr lang="ru-RU" dirty="0"/>
              <a:t>”, чья фамилия содержит букву “p”. Переименовать колонку с именем в “Имя”, с идентификатором в “Идентификатор”, с фамилией в “Фамилия”. Клиентов отобразить в порядке возрастания их идентификатора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7D2385-C001-AADD-8946-4B568F985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210" y="2714524"/>
            <a:ext cx="4134427" cy="714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ED27FD-A779-4013-00A5-B71841366B5D}"/>
              </a:ext>
            </a:extLst>
          </p:cNvPr>
          <p:cNvSpPr txBox="1"/>
          <p:nvPr/>
        </p:nvSpPr>
        <p:spPr>
          <a:xfrm>
            <a:off x="1389702" y="2539652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</a:t>
            </a:r>
            <a:br>
              <a:rPr lang="en-US" dirty="0"/>
            </a:br>
            <a:r>
              <a:rPr lang="en-US" dirty="0" err="1"/>
              <a:t>first_name</a:t>
            </a:r>
            <a:r>
              <a:rPr lang="en-US" dirty="0"/>
              <a:t> AS "</a:t>
            </a:r>
            <a:r>
              <a:rPr lang="en-US" dirty="0" err="1"/>
              <a:t>Имя</a:t>
            </a:r>
            <a:r>
              <a:rPr lang="en-US" dirty="0"/>
              <a:t>",</a:t>
            </a:r>
            <a:br>
              <a:rPr lang="en-US" dirty="0"/>
            </a:br>
            <a:r>
              <a:rPr lang="en-US" dirty="0" err="1"/>
              <a:t>last_name</a:t>
            </a:r>
            <a:r>
              <a:rPr lang="en-US" dirty="0"/>
              <a:t> AS "</a:t>
            </a:r>
            <a:r>
              <a:rPr lang="en-US" dirty="0" err="1"/>
              <a:t>Фамилия</a:t>
            </a:r>
            <a:r>
              <a:rPr lang="en-US" dirty="0"/>
              <a:t>",</a:t>
            </a:r>
            <a:br>
              <a:rPr lang="en-US" dirty="0"/>
            </a:br>
            <a:r>
              <a:rPr lang="en-US" dirty="0" err="1"/>
              <a:t>customer_id</a:t>
            </a:r>
            <a:r>
              <a:rPr lang="en-US" dirty="0"/>
              <a:t> AS "</a:t>
            </a:r>
            <a:r>
              <a:rPr lang="en-US" dirty="0" err="1"/>
              <a:t>Идентификатор</a:t>
            </a:r>
            <a:r>
              <a:rPr lang="en-US" dirty="0"/>
              <a:t>"</a:t>
            </a:r>
            <a:br>
              <a:rPr lang="en-US" dirty="0"/>
            </a:br>
            <a:r>
              <a:rPr lang="en-US" dirty="0"/>
              <a:t>FROM customer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first_name</a:t>
            </a:r>
            <a:r>
              <a:rPr lang="en-US" dirty="0"/>
              <a:t> IN ('Jack', 'Bob', 'Sara')</a:t>
            </a:r>
            <a:br>
              <a:rPr lang="en-US" dirty="0"/>
            </a:br>
            <a:r>
              <a:rPr lang="en-US" dirty="0"/>
              <a:t>AND </a:t>
            </a:r>
            <a:r>
              <a:rPr lang="en-US" dirty="0" err="1"/>
              <a:t>last_name</a:t>
            </a:r>
            <a:r>
              <a:rPr lang="en-US" dirty="0"/>
              <a:t> ILIKE '%p%'</a:t>
            </a:r>
            <a:br>
              <a:rPr lang="en-US" dirty="0"/>
            </a:br>
            <a:r>
              <a:rPr lang="en-US" dirty="0"/>
              <a:t>ORDER BY </a:t>
            </a:r>
            <a:r>
              <a:rPr lang="en-US" dirty="0" err="1"/>
              <a:t>customer_id</a:t>
            </a:r>
            <a:r>
              <a:rPr lang="en-US" dirty="0"/>
              <a:t> ASC;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979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7B087-2685-AEBF-7ACC-A625E036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4237D73-B565-BC8F-71D5-E1623EE3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97FDEE9-1BC8-56D8-38DF-85A892D77F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7BCE562-5745-9EC2-FB8B-646E5DA12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*Создать таблицу студентов с полями: имя, фамилия, возраст, дата рождения и адрес. Все поля закрыты от внесения пустых данных. Внести в таблицу 1 студента с </a:t>
            </a:r>
            <a:r>
              <a:rPr lang="ru-RU" dirty="0" err="1"/>
              <a:t>id</a:t>
            </a:r>
            <a:r>
              <a:rPr lang="ru-RU" dirty="0"/>
              <a:t> &gt; 50. Посмотреть текущие записи таблицы. Внести несколько записей 1 запросом, используя </a:t>
            </a:r>
            <a:r>
              <a:rPr lang="ru-RU" dirty="0" err="1"/>
              <a:t>автоинкремент</a:t>
            </a:r>
            <a:r>
              <a:rPr lang="ru-RU" dirty="0"/>
              <a:t> </a:t>
            </a:r>
            <a:r>
              <a:rPr lang="ru-RU" dirty="0" err="1"/>
              <a:t>id</a:t>
            </a:r>
            <a:r>
              <a:rPr lang="ru-RU" dirty="0"/>
              <a:t>. Посмотреть текущие записи таблицы. Удалить 1 студента на выбор. Вывести полный список студентов. Удалить таблицу. Вывести результат запроса на выборку из таблицы студентов.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8CE3C-2ACF-8FBA-6428-6E5D5F33E7B7}"/>
              </a:ext>
            </a:extLst>
          </p:cNvPr>
          <p:cNvSpPr txBox="1"/>
          <p:nvPr/>
        </p:nvSpPr>
        <p:spPr>
          <a:xfrm>
            <a:off x="1481379" y="3141613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Создать таблицу студентов с полями: имя, фамилия, возраст, дата рождения и адрес. Все поля закрыты от внесения пустых данных.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B4E2B-4B45-B3B6-77D1-77CE2E9D4652}"/>
              </a:ext>
            </a:extLst>
          </p:cNvPr>
          <p:cNvSpPr txBox="1"/>
          <p:nvPr/>
        </p:nvSpPr>
        <p:spPr>
          <a:xfrm>
            <a:off x="1391971" y="4064943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CREATE TABLE </a:t>
            </a:r>
            <a:r>
              <a:rPr lang="ru-RU" dirty="0" err="1"/>
              <a:t>students</a:t>
            </a:r>
            <a:r>
              <a:rPr lang="ru-RU" dirty="0"/>
              <a:t> (</a:t>
            </a:r>
          </a:p>
          <a:p>
            <a:r>
              <a:rPr lang="ru-RU" dirty="0"/>
              <a:t>    </a:t>
            </a:r>
            <a:r>
              <a:rPr lang="ru-RU" dirty="0" err="1"/>
              <a:t>id</a:t>
            </a:r>
            <a:r>
              <a:rPr lang="ru-RU" dirty="0"/>
              <a:t> SERIAL PRIMARY KEY,</a:t>
            </a:r>
          </a:p>
          <a:p>
            <a:r>
              <a:rPr lang="ru-RU" dirty="0"/>
              <a:t>    </a:t>
            </a:r>
            <a:r>
              <a:rPr lang="ru-RU" dirty="0" err="1"/>
              <a:t>first_name</a:t>
            </a:r>
            <a:r>
              <a:rPr lang="ru-RU" dirty="0"/>
              <a:t> VARCHAR(50) NOT NULL,</a:t>
            </a:r>
          </a:p>
          <a:p>
            <a:r>
              <a:rPr lang="ru-RU" dirty="0"/>
              <a:t>    </a:t>
            </a:r>
            <a:r>
              <a:rPr lang="ru-RU" dirty="0" err="1"/>
              <a:t>last_name</a:t>
            </a:r>
            <a:r>
              <a:rPr lang="ru-RU" dirty="0"/>
              <a:t> VARCHAR(50) NOT NULL,</a:t>
            </a:r>
          </a:p>
          <a:p>
            <a:r>
              <a:rPr lang="ru-RU" dirty="0"/>
              <a:t>    </a:t>
            </a:r>
            <a:r>
              <a:rPr lang="ru-RU" dirty="0" err="1"/>
              <a:t>age</a:t>
            </a:r>
            <a:r>
              <a:rPr lang="ru-RU" dirty="0"/>
              <a:t> INT NOT NULL,</a:t>
            </a:r>
          </a:p>
          <a:p>
            <a:r>
              <a:rPr lang="ru-RU" dirty="0"/>
              <a:t>    </a:t>
            </a:r>
            <a:r>
              <a:rPr lang="ru-RU" dirty="0" err="1"/>
              <a:t>birth_date</a:t>
            </a:r>
            <a:r>
              <a:rPr lang="ru-RU" dirty="0"/>
              <a:t> DATE NOT NULL,</a:t>
            </a:r>
          </a:p>
          <a:p>
            <a:r>
              <a:rPr lang="ru-RU" dirty="0"/>
              <a:t>    </a:t>
            </a:r>
            <a:r>
              <a:rPr lang="ru-RU" dirty="0" err="1"/>
              <a:t>address</a:t>
            </a:r>
            <a:r>
              <a:rPr lang="ru-RU" dirty="0"/>
              <a:t> VARCHAR(100) NOT NULL</a:t>
            </a:r>
          </a:p>
          <a:p>
            <a:r>
              <a:rPr lang="ru-RU" dirty="0"/>
              <a:t>);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8BD91BC-3FCA-9736-AA39-3CD162043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736" y="4226906"/>
            <a:ext cx="5953905" cy="164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14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98EE2-BDC3-1537-9E09-F5E12A93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77C4E1A-FD89-7E04-6492-786F356C2A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2B824B-3CBA-B37C-3064-2E45E96B71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41C741-99F9-C3FC-5EE1-254BDA01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Внести в таблицу 1 студента с </a:t>
            </a:r>
            <a:r>
              <a:rPr lang="ru-RU" dirty="0" err="1"/>
              <a:t>id</a:t>
            </a:r>
            <a:r>
              <a:rPr lang="ru-RU" dirty="0"/>
              <a:t> &gt; 50. Посмотреть текущие записи таблицы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AEDF8-1811-6AFC-3F1F-C48EB5C39E29}"/>
              </a:ext>
            </a:extLst>
          </p:cNvPr>
          <p:cNvSpPr txBox="1"/>
          <p:nvPr/>
        </p:nvSpPr>
        <p:spPr>
          <a:xfrm>
            <a:off x="1481379" y="1684005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INSERT INTO </a:t>
            </a:r>
            <a:r>
              <a:rPr lang="ru-RU" dirty="0" err="1"/>
              <a:t>students</a:t>
            </a:r>
            <a:r>
              <a:rPr lang="ru-RU" dirty="0"/>
              <a:t> (</a:t>
            </a:r>
            <a:r>
              <a:rPr lang="ru-RU" dirty="0" err="1"/>
              <a:t>id</a:t>
            </a:r>
            <a:r>
              <a:rPr lang="ru-RU" dirty="0"/>
              <a:t>, </a:t>
            </a:r>
            <a:r>
              <a:rPr lang="ru-RU" dirty="0" err="1"/>
              <a:t>first_name</a:t>
            </a:r>
            <a:r>
              <a:rPr lang="ru-RU" dirty="0"/>
              <a:t>, </a:t>
            </a:r>
            <a:r>
              <a:rPr lang="ru-RU" dirty="0" err="1"/>
              <a:t>last_name</a:t>
            </a:r>
            <a:r>
              <a:rPr lang="ru-RU" dirty="0"/>
              <a:t>, </a:t>
            </a:r>
            <a:r>
              <a:rPr lang="ru-RU" dirty="0" err="1"/>
              <a:t>age</a:t>
            </a:r>
            <a:r>
              <a:rPr lang="ru-RU" dirty="0"/>
              <a:t>, </a:t>
            </a:r>
            <a:r>
              <a:rPr lang="ru-RU" dirty="0" err="1"/>
              <a:t>birth_date</a:t>
            </a:r>
            <a:r>
              <a:rPr lang="ru-RU" dirty="0"/>
              <a:t>, </a:t>
            </a:r>
            <a:r>
              <a:rPr lang="ru-RU" dirty="0" err="1"/>
              <a:t>address</a:t>
            </a:r>
            <a:r>
              <a:rPr lang="ru-RU" dirty="0"/>
              <a:t>)</a:t>
            </a:r>
          </a:p>
          <a:p>
            <a:r>
              <a:rPr lang="ru-RU" dirty="0"/>
              <a:t>VALUES (54, 'Иван', 'Петров', 20, '2004-03-15', 'Москва');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14A03-59CB-5948-984D-4F32A357B552}"/>
              </a:ext>
            </a:extLst>
          </p:cNvPr>
          <p:cNvSpPr txBox="1"/>
          <p:nvPr/>
        </p:nvSpPr>
        <p:spPr>
          <a:xfrm>
            <a:off x="1410078" y="324433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 * FROM </a:t>
            </a:r>
            <a:r>
              <a:rPr lang="ru-RU" dirty="0" err="1"/>
              <a:t>students</a:t>
            </a:r>
            <a:r>
              <a:rPr lang="ru-RU" dirty="0"/>
              <a:t>;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19FC1B-86BD-7995-D821-442B22C6F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01" y="4907258"/>
            <a:ext cx="6897063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90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54B2D-CB02-DB69-B475-D2A79B03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CA24795-A170-35C2-8C07-AF15BA3FA3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1242AB0-4F33-B403-0344-6AB913462B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7125FC8-E428-9E0F-C0D6-DDE6D445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Внести несколько записей 1 запросом, используя </a:t>
            </a:r>
            <a:r>
              <a:rPr lang="ru-RU" dirty="0" err="1"/>
              <a:t>автоинкремент</a:t>
            </a:r>
            <a:r>
              <a:rPr lang="ru-RU" dirty="0"/>
              <a:t> </a:t>
            </a:r>
            <a:r>
              <a:rPr lang="ru-RU" dirty="0" err="1"/>
              <a:t>id</a:t>
            </a:r>
            <a:r>
              <a:rPr lang="ru-RU" dirty="0"/>
              <a:t>. Посмотреть текущие записи таблицы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D5202-14DB-5EFE-9717-48A06769D346}"/>
              </a:ext>
            </a:extLst>
          </p:cNvPr>
          <p:cNvSpPr txBox="1"/>
          <p:nvPr/>
        </p:nvSpPr>
        <p:spPr>
          <a:xfrm>
            <a:off x="1373864" y="161697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 </a:t>
            </a:r>
            <a:r>
              <a:rPr lang="ru-RU" dirty="0" err="1"/>
              <a:t>setval</a:t>
            </a:r>
            <a:r>
              <a:rPr lang="ru-RU" dirty="0"/>
              <a:t>('</a:t>
            </a:r>
            <a:r>
              <a:rPr lang="ru-RU" dirty="0" err="1"/>
              <a:t>students_id_seq</a:t>
            </a:r>
            <a:r>
              <a:rPr lang="ru-RU" dirty="0"/>
              <a:t>', 54, </a:t>
            </a:r>
            <a:r>
              <a:rPr lang="ru-RU" dirty="0" err="1"/>
              <a:t>true</a:t>
            </a:r>
            <a:r>
              <a:rPr lang="ru-RU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7FBFB-0EB3-F0A9-1E27-DDC5F10E9A7F}"/>
              </a:ext>
            </a:extLst>
          </p:cNvPr>
          <p:cNvSpPr txBox="1"/>
          <p:nvPr/>
        </p:nvSpPr>
        <p:spPr>
          <a:xfrm>
            <a:off x="1373864" y="2546069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INSERT INTO students (first_name, last_name, age, birth_date, address)</a:t>
            </a:r>
          </a:p>
          <a:p>
            <a:r>
              <a:rPr lang="ru-RU"/>
              <a:t>VALUES</a:t>
            </a:r>
          </a:p>
          <a:p>
            <a:r>
              <a:rPr lang="ru-RU"/>
              <a:t>('Анна', 'Смирнова', 19, '2005-06-10', 'Москва'),</a:t>
            </a:r>
          </a:p>
          <a:p>
            <a:r>
              <a:rPr lang="ru-RU"/>
              <a:t>('Павел', 'Ильин', 21, '2003-11-21', 'Казань'),</a:t>
            </a:r>
          </a:p>
          <a:p>
            <a:r>
              <a:rPr lang="ru-RU"/>
              <a:t>('Мария', 'Козлова', 20, '2004-09-03', 'Тверь');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C87921-5361-C41B-1312-B68D9E87285A}"/>
              </a:ext>
            </a:extLst>
          </p:cNvPr>
          <p:cNvSpPr txBox="1"/>
          <p:nvPr/>
        </p:nvSpPr>
        <p:spPr>
          <a:xfrm>
            <a:off x="1373864" y="4779362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 *</a:t>
            </a:r>
          </a:p>
          <a:p>
            <a:r>
              <a:rPr lang="ru-RU" dirty="0"/>
              <a:t>FROM </a:t>
            </a:r>
            <a:r>
              <a:rPr lang="ru-RU" dirty="0" err="1"/>
              <a:t>students</a:t>
            </a:r>
            <a:endParaRPr lang="ru-RU" dirty="0"/>
          </a:p>
          <a:p>
            <a:r>
              <a:rPr lang="ru-RU" dirty="0"/>
              <a:t>ORDER BY </a:t>
            </a:r>
            <a:r>
              <a:rPr lang="ru-RU" dirty="0" err="1"/>
              <a:t>id</a:t>
            </a:r>
            <a:r>
              <a:rPr lang="ru-RU" dirty="0"/>
              <a:t>;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610F683-9E68-AAA2-5D2A-6669504F9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341" y="4779362"/>
            <a:ext cx="6849431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56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AB522-F526-9947-BD1B-00D323744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7C88FA0-11E6-5AA1-3256-328822F38A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BF009AA-6CC3-9E19-0FFF-FAC2D7DA26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5009E2C-EDDB-4C7A-B9A7-3B3F9AC0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Удалить 1 студента на выбор. Вывести полный список студентов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12EBF-A0AD-070F-445C-A955B5DE7DBD}"/>
              </a:ext>
            </a:extLst>
          </p:cNvPr>
          <p:cNvSpPr txBox="1"/>
          <p:nvPr/>
        </p:nvSpPr>
        <p:spPr>
          <a:xfrm>
            <a:off x="1394610" y="1219251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DELETE FROM </a:t>
            </a:r>
            <a:r>
              <a:rPr lang="ru-RU" dirty="0" err="1"/>
              <a:t>students</a:t>
            </a:r>
            <a:endParaRPr lang="ru-RU" dirty="0"/>
          </a:p>
          <a:p>
            <a:r>
              <a:rPr lang="ru-RU" dirty="0"/>
              <a:t>WHERE </a:t>
            </a:r>
            <a:r>
              <a:rPr lang="ru-RU" dirty="0" err="1"/>
              <a:t>id</a:t>
            </a:r>
            <a:r>
              <a:rPr lang="ru-RU" dirty="0"/>
              <a:t> = 56;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8DC850E-DB47-2B5A-2C75-E299B6FBF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996" y="2272220"/>
            <a:ext cx="6811326" cy="828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3645BD-4ECF-780D-AFE5-36F4E050B034}"/>
              </a:ext>
            </a:extLst>
          </p:cNvPr>
          <p:cNvSpPr txBox="1"/>
          <p:nvPr/>
        </p:nvSpPr>
        <p:spPr>
          <a:xfrm>
            <a:off x="1277996" y="3184483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Удалить таблицу. Вывести результат запроса на выборку из таблицы студентов.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FB99556-0B61-68F1-6B72-C41DCF8DD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996" y="5022582"/>
            <a:ext cx="5611008" cy="9050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C6504-57F0-74EC-AB77-37AE632743B2}"/>
              </a:ext>
            </a:extLst>
          </p:cNvPr>
          <p:cNvSpPr txBox="1"/>
          <p:nvPr/>
        </p:nvSpPr>
        <p:spPr>
          <a:xfrm>
            <a:off x="1335334" y="1869609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 * FROM </a:t>
            </a:r>
            <a:r>
              <a:rPr lang="ru-RU" dirty="0" err="1"/>
              <a:t>students</a:t>
            </a:r>
            <a:r>
              <a:rPr lang="ru-RU" dirty="0"/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C914EF-D170-645B-F411-6056780D76BB}"/>
              </a:ext>
            </a:extLst>
          </p:cNvPr>
          <p:cNvSpPr txBox="1"/>
          <p:nvPr/>
        </p:nvSpPr>
        <p:spPr>
          <a:xfrm>
            <a:off x="1277996" y="384389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DROP TABLE </a:t>
            </a:r>
            <a:r>
              <a:rPr lang="ru-RU" dirty="0" err="1"/>
              <a:t>students</a:t>
            </a:r>
            <a:r>
              <a:rPr lang="ru-RU" dirty="0"/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B0029A-13CB-2A2D-4C5C-7CCD69416D28}"/>
              </a:ext>
            </a:extLst>
          </p:cNvPr>
          <p:cNvSpPr txBox="1"/>
          <p:nvPr/>
        </p:nvSpPr>
        <p:spPr>
          <a:xfrm>
            <a:off x="1335334" y="441821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 * FROM </a:t>
            </a:r>
            <a:r>
              <a:rPr lang="ru-RU" dirty="0" err="1"/>
              <a:t>students</a:t>
            </a:r>
            <a:r>
              <a:rPr lang="ru-RU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91292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4D7-CF40-1890-4DF0-79235D85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869F09F-54E1-CABA-2094-92E0EED267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2AFCBB3-EF1E-6D5C-A6D3-23C57B1039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21F298D-7292-8804-5B20-ED6B9CD4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en-US" dirty="0"/>
              <a:t>«JOIN </a:t>
            </a:r>
            <a:r>
              <a:rPr lang="ru-RU" dirty="0"/>
              <a:t>и агрегатные функции»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A7D23C-D830-88A8-D3C4-FB6B2D4A2240}"/>
              </a:ext>
            </a:extLst>
          </p:cNvPr>
          <p:cNvSpPr txBox="1"/>
          <p:nvPr/>
        </p:nvSpPr>
        <p:spPr>
          <a:xfrm>
            <a:off x="1481379" y="122760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u="none" strike="noStrike" baseline="0" dirty="0">
                <a:solidFill>
                  <a:srgbClr val="000000"/>
                </a:solidFill>
              </a:rPr>
              <a:t>Вывести количество уникальных имен клиентов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371FB2-2C3D-87B9-EC76-D02F91E0AE9B}"/>
              </a:ext>
            </a:extLst>
          </p:cNvPr>
          <p:cNvSpPr txBox="1"/>
          <p:nvPr/>
        </p:nvSpPr>
        <p:spPr>
          <a:xfrm>
            <a:off x="1481378" y="1892236"/>
            <a:ext cx="7056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 COUNT(DISTINCT </a:t>
            </a:r>
            <a:r>
              <a:rPr lang="ru-RU" dirty="0" err="1"/>
              <a:t>first_name</a:t>
            </a:r>
            <a:r>
              <a:rPr lang="ru-RU" dirty="0"/>
              <a:t>) AS </a:t>
            </a:r>
            <a:r>
              <a:rPr lang="ru-RU" dirty="0" err="1"/>
              <a:t>unique_customer_names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customer</a:t>
            </a:r>
            <a:r>
              <a:rPr lang="ru-RU" dirty="0"/>
              <a:t>;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C153A84-EC75-075F-D242-4825DDF6A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047" y="3066191"/>
            <a:ext cx="2400635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7FCC2-44B7-14FB-A689-7B8259321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C44275-41F5-29F4-A48B-744AA7C3D3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00C8E6-FDCA-CCF6-D424-4F9FEF801B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3A04999-DE6A-9A87-B99E-4ECBC017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/>
          </a:bodyPr>
          <a:lstStyle/>
          <a:p>
            <a:r>
              <a:rPr lang="ru-RU" dirty="0"/>
              <a:t>Вывести 5 самых частых сумм оплаты, их даты, количество и сумму платежей одинакового номинала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325BC-635A-6FAB-B5BC-0397ED199640}"/>
              </a:ext>
            </a:extLst>
          </p:cNvPr>
          <p:cNvSpPr txBox="1"/>
          <p:nvPr/>
        </p:nvSpPr>
        <p:spPr>
          <a:xfrm>
            <a:off x="1481379" y="1542417"/>
            <a:ext cx="60975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</a:t>
            </a:r>
          </a:p>
          <a:p>
            <a:r>
              <a:rPr lang="ru-RU" dirty="0"/>
              <a:t>    </a:t>
            </a:r>
            <a:r>
              <a:rPr lang="ru-RU" dirty="0" err="1"/>
              <a:t>amount</a:t>
            </a:r>
            <a:r>
              <a:rPr lang="ru-RU" dirty="0"/>
              <a:t> AS </a:t>
            </a:r>
            <a:r>
              <a:rPr lang="ru-RU" dirty="0" err="1"/>
              <a:t>payment_amount</a:t>
            </a:r>
            <a:r>
              <a:rPr lang="ru-RU" dirty="0"/>
              <a:t>,</a:t>
            </a:r>
          </a:p>
          <a:p>
            <a:r>
              <a:rPr lang="ru-RU" dirty="0"/>
              <a:t>    MIN(</a:t>
            </a:r>
            <a:r>
              <a:rPr lang="ru-RU" dirty="0" err="1"/>
              <a:t>payment_date</a:t>
            </a:r>
            <a:r>
              <a:rPr lang="ru-RU" dirty="0"/>
              <a:t>::</a:t>
            </a:r>
            <a:r>
              <a:rPr lang="ru-RU" dirty="0" err="1"/>
              <a:t>date</a:t>
            </a:r>
            <a:r>
              <a:rPr lang="ru-RU" dirty="0"/>
              <a:t>) AS </a:t>
            </a:r>
            <a:r>
              <a:rPr lang="ru-RU" dirty="0" err="1"/>
              <a:t>first_date</a:t>
            </a:r>
            <a:r>
              <a:rPr lang="ru-RU" dirty="0"/>
              <a:t>,</a:t>
            </a:r>
          </a:p>
          <a:p>
            <a:r>
              <a:rPr lang="ru-RU" dirty="0"/>
              <a:t>    MAX(</a:t>
            </a:r>
            <a:r>
              <a:rPr lang="ru-RU" dirty="0" err="1"/>
              <a:t>payment_date</a:t>
            </a:r>
            <a:r>
              <a:rPr lang="ru-RU" dirty="0"/>
              <a:t>::</a:t>
            </a:r>
            <a:r>
              <a:rPr lang="ru-RU" dirty="0" err="1"/>
              <a:t>date</a:t>
            </a:r>
            <a:r>
              <a:rPr lang="ru-RU" dirty="0"/>
              <a:t>) AS </a:t>
            </a:r>
            <a:r>
              <a:rPr lang="ru-RU" dirty="0" err="1"/>
              <a:t>last_date</a:t>
            </a:r>
            <a:r>
              <a:rPr lang="ru-RU" dirty="0"/>
              <a:t>,</a:t>
            </a:r>
          </a:p>
          <a:p>
            <a:r>
              <a:rPr lang="ru-RU" dirty="0"/>
              <a:t>    COUNT(*) AS </a:t>
            </a:r>
            <a:r>
              <a:rPr lang="ru-RU" dirty="0" err="1"/>
              <a:t>payment_count</a:t>
            </a:r>
            <a:r>
              <a:rPr lang="ru-RU" dirty="0"/>
              <a:t>,</a:t>
            </a:r>
          </a:p>
          <a:p>
            <a:r>
              <a:rPr lang="ru-RU" dirty="0"/>
              <a:t>    ROUND(SUM(</a:t>
            </a:r>
            <a:r>
              <a:rPr lang="ru-RU" dirty="0" err="1"/>
              <a:t>amount</a:t>
            </a:r>
            <a:r>
              <a:rPr lang="ru-RU" dirty="0"/>
              <a:t>), 2) AS </a:t>
            </a:r>
            <a:r>
              <a:rPr lang="ru-RU" dirty="0" err="1"/>
              <a:t>total_amount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payment</a:t>
            </a:r>
            <a:endParaRPr lang="ru-RU" dirty="0"/>
          </a:p>
          <a:p>
            <a:r>
              <a:rPr lang="ru-RU" dirty="0"/>
              <a:t>GROUP BY </a:t>
            </a:r>
            <a:r>
              <a:rPr lang="ru-RU" dirty="0" err="1"/>
              <a:t>amount</a:t>
            </a:r>
            <a:endParaRPr lang="ru-RU" dirty="0"/>
          </a:p>
          <a:p>
            <a:r>
              <a:rPr lang="ru-RU" dirty="0"/>
              <a:t>ORDER BY </a:t>
            </a:r>
            <a:r>
              <a:rPr lang="ru-RU" dirty="0" err="1"/>
              <a:t>payment_count</a:t>
            </a:r>
            <a:r>
              <a:rPr lang="ru-RU" dirty="0"/>
              <a:t> DESC, </a:t>
            </a:r>
            <a:r>
              <a:rPr lang="ru-RU" dirty="0" err="1"/>
              <a:t>amount</a:t>
            </a:r>
            <a:r>
              <a:rPr lang="ru-RU" dirty="0"/>
              <a:t> DESC</a:t>
            </a:r>
          </a:p>
          <a:p>
            <a:r>
              <a:rPr lang="ru-RU" dirty="0"/>
              <a:t>LIMIT 5;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C249486-000D-F864-1C11-5A2D9F51D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961" y="4847763"/>
            <a:ext cx="7135221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4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AB81E-EF59-18C0-566C-0C0DF9E3E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9BC4F2-6482-EB45-9362-E43EF9A704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2B3B2A5-4CA8-4AC5-1B95-1EF16497B2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4BE7805-74E1-B5B8-F019-7BF72016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/>
          </a:bodyPr>
          <a:lstStyle/>
          <a:p>
            <a:r>
              <a:rPr lang="ru-RU" dirty="0"/>
              <a:t>Вывести число ячеек в инвентаре каждого магазина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10B8D4-300B-9EE5-847F-6BF9CC1E2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392" y="3514523"/>
            <a:ext cx="2981741" cy="666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67BE34-A31B-78D8-20E3-248C56680384}"/>
              </a:ext>
            </a:extLst>
          </p:cNvPr>
          <p:cNvSpPr txBox="1"/>
          <p:nvPr/>
        </p:nvSpPr>
        <p:spPr>
          <a:xfrm>
            <a:off x="1481379" y="1255730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</a:t>
            </a:r>
          </a:p>
          <a:p>
            <a:r>
              <a:rPr lang="ru-RU" dirty="0"/>
              <a:t>    </a:t>
            </a:r>
            <a:r>
              <a:rPr lang="ru-RU" dirty="0" err="1"/>
              <a:t>store_id</a:t>
            </a:r>
            <a:r>
              <a:rPr lang="ru-RU" dirty="0"/>
              <a:t>,</a:t>
            </a:r>
          </a:p>
          <a:p>
            <a:r>
              <a:rPr lang="ru-RU" dirty="0"/>
              <a:t>    COUNT(*) AS </a:t>
            </a:r>
            <a:r>
              <a:rPr lang="ru-RU" dirty="0" err="1"/>
              <a:t>inventory_cells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inventory</a:t>
            </a:r>
            <a:endParaRPr lang="ru-RU" dirty="0"/>
          </a:p>
          <a:p>
            <a:r>
              <a:rPr lang="ru-RU" dirty="0"/>
              <a:t>GROUP BY </a:t>
            </a:r>
            <a:r>
              <a:rPr lang="ru-RU" dirty="0" err="1"/>
              <a:t>store_id</a:t>
            </a:r>
            <a:endParaRPr lang="ru-RU" dirty="0"/>
          </a:p>
          <a:p>
            <a:r>
              <a:rPr lang="ru-RU" dirty="0"/>
              <a:t>ORDER BY </a:t>
            </a:r>
            <a:r>
              <a:rPr lang="ru-RU" dirty="0" err="1"/>
              <a:t>store_id</a:t>
            </a:r>
            <a:r>
              <a:rPr lang="ru-RU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9921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B4C7A-14A5-7D6B-E8BD-6F382FC94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6CB7EDD-6330-7C13-F815-24C13D1D66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5F5522-AA09-2B85-296E-BDE0A99B53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EB4CE3D-46C3-74E3-149D-BCD930BD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Вывести адреса всех магазинов (JOIN)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25F64-45DD-99F7-67D2-A2A3D64AE8C7}"/>
              </a:ext>
            </a:extLst>
          </p:cNvPr>
          <p:cNvSpPr txBox="1"/>
          <p:nvPr/>
        </p:nvSpPr>
        <p:spPr>
          <a:xfrm>
            <a:off x="1481379" y="1218493"/>
            <a:ext cx="60975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</a:t>
            </a:r>
          </a:p>
          <a:p>
            <a:r>
              <a:rPr lang="ru-RU" dirty="0"/>
              <a:t>    </a:t>
            </a:r>
            <a:r>
              <a:rPr lang="ru-RU" dirty="0" err="1"/>
              <a:t>s.store_id</a:t>
            </a:r>
            <a:r>
              <a:rPr lang="ru-RU" dirty="0"/>
              <a:t>,</a:t>
            </a:r>
          </a:p>
          <a:p>
            <a:r>
              <a:rPr lang="ru-RU" dirty="0"/>
              <a:t>    </a:t>
            </a:r>
            <a:r>
              <a:rPr lang="ru-RU" dirty="0" err="1"/>
              <a:t>a.address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store</a:t>
            </a:r>
            <a:r>
              <a:rPr lang="ru-RU" dirty="0"/>
              <a:t> s</a:t>
            </a:r>
          </a:p>
          <a:p>
            <a:r>
              <a:rPr lang="ru-RU" dirty="0"/>
              <a:t>JOIN </a:t>
            </a:r>
            <a:r>
              <a:rPr lang="ru-RU" dirty="0" err="1"/>
              <a:t>address</a:t>
            </a:r>
            <a:r>
              <a:rPr lang="ru-RU" dirty="0"/>
              <a:t> a</a:t>
            </a:r>
          </a:p>
          <a:p>
            <a:r>
              <a:rPr lang="ru-RU" dirty="0"/>
              <a:t>    ON </a:t>
            </a:r>
            <a:r>
              <a:rPr lang="ru-RU" dirty="0" err="1"/>
              <a:t>a.address_id</a:t>
            </a:r>
            <a:r>
              <a:rPr lang="ru-RU" dirty="0"/>
              <a:t> = </a:t>
            </a:r>
            <a:r>
              <a:rPr lang="ru-RU" dirty="0" err="1"/>
              <a:t>s.address_id</a:t>
            </a:r>
            <a:endParaRPr lang="ru-RU" dirty="0"/>
          </a:p>
          <a:p>
            <a:r>
              <a:rPr lang="ru-RU" dirty="0"/>
              <a:t>ORDER BY </a:t>
            </a:r>
            <a:r>
              <a:rPr lang="ru-RU" dirty="0" err="1"/>
              <a:t>s.store_id</a:t>
            </a:r>
            <a:r>
              <a:rPr lang="ru-RU" dirty="0"/>
              <a:t>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BFFE16-29FB-63BC-825A-F0C576A22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79" y="4953611"/>
            <a:ext cx="2762636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00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CAD8-F183-F1E6-C8E4-6E995CED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544840C-92AD-9BEF-C6AE-03E52ACE4E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A3D3BF0-C797-09A7-9D84-DFAB42A177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4F9F0EE-013C-67F1-DC36-BB06A9E8B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/>
          </a:bodyPr>
          <a:lstStyle/>
          <a:p>
            <a:r>
              <a:rPr lang="ru-RU" dirty="0"/>
              <a:t>Вывести полные имена всех клиентов и сотрудников в одну колонку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1176F-7B9A-980C-589D-30BC0EA92779}"/>
              </a:ext>
            </a:extLst>
          </p:cNvPr>
          <p:cNvSpPr txBox="1"/>
          <p:nvPr/>
        </p:nvSpPr>
        <p:spPr>
          <a:xfrm>
            <a:off x="1481379" y="1542417"/>
            <a:ext cx="60975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 </a:t>
            </a:r>
            <a:r>
              <a:rPr lang="ru-RU" dirty="0" err="1"/>
              <a:t>first_name</a:t>
            </a:r>
            <a:r>
              <a:rPr lang="ru-RU" dirty="0"/>
              <a:t> || ' ' || </a:t>
            </a:r>
            <a:r>
              <a:rPr lang="ru-RU" dirty="0" err="1"/>
              <a:t>last_name</a:t>
            </a:r>
            <a:r>
              <a:rPr lang="ru-RU" dirty="0"/>
              <a:t> AS </a:t>
            </a:r>
            <a:r>
              <a:rPr lang="ru-RU" dirty="0" err="1"/>
              <a:t>full_name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customer</a:t>
            </a:r>
            <a:endParaRPr lang="ru-RU" dirty="0"/>
          </a:p>
          <a:p>
            <a:endParaRPr lang="ru-RU" dirty="0"/>
          </a:p>
          <a:p>
            <a:r>
              <a:rPr lang="ru-RU" dirty="0"/>
              <a:t>UNION ALL</a:t>
            </a:r>
          </a:p>
          <a:p>
            <a:endParaRPr lang="ru-RU" dirty="0"/>
          </a:p>
          <a:p>
            <a:r>
              <a:rPr lang="ru-RU" dirty="0"/>
              <a:t>SELECT </a:t>
            </a:r>
            <a:r>
              <a:rPr lang="ru-RU" dirty="0" err="1"/>
              <a:t>first_name</a:t>
            </a:r>
            <a:r>
              <a:rPr lang="ru-RU" dirty="0"/>
              <a:t> || ' ' || </a:t>
            </a:r>
            <a:r>
              <a:rPr lang="ru-RU" dirty="0" err="1"/>
              <a:t>last_name</a:t>
            </a:r>
            <a:r>
              <a:rPr lang="ru-RU" dirty="0"/>
              <a:t> AS </a:t>
            </a:r>
            <a:r>
              <a:rPr lang="ru-RU" dirty="0" err="1"/>
              <a:t>full_name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staff</a:t>
            </a:r>
            <a:r>
              <a:rPr lang="ru-RU" dirty="0"/>
              <a:t>;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F1753A-A8EA-79E1-8A1E-248FCA32C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449" y="1126772"/>
            <a:ext cx="1544515" cy="545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04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A15DF-0047-5A44-5355-5964EF6B7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409746-66CD-5A44-0CC1-A7527F8A3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F82388C-71E1-4D8F-12B1-EE88517438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4655982-0872-5C53-2760-A2EC47699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/>
          </a:bodyPr>
          <a:lstStyle/>
          <a:p>
            <a:r>
              <a:rPr lang="ru-RU" dirty="0"/>
              <a:t>Вывести имена клиентов, которые не совпадают с именами сотрудников (</a:t>
            </a:r>
            <a:r>
              <a:rPr lang="ru-RU" dirty="0" err="1"/>
              <a:t>except</a:t>
            </a:r>
            <a:r>
              <a:rPr lang="ru-RU" dirty="0"/>
              <a:t>)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F138E3-C127-142F-7062-AE629BE63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808" y="1542417"/>
            <a:ext cx="1387024" cy="43865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478B9A-5868-E2B3-19E9-F36F3E7DD290}"/>
              </a:ext>
            </a:extLst>
          </p:cNvPr>
          <p:cNvSpPr txBox="1"/>
          <p:nvPr/>
        </p:nvSpPr>
        <p:spPr>
          <a:xfrm>
            <a:off x="1481379" y="2168460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 </a:t>
            </a:r>
            <a:r>
              <a:rPr lang="ru-RU" dirty="0" err="1"/>
              <a:t>first_name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customer</a:t>
            </a:r>
            <a:endParaRPr lang="ru-RU" dirty="0"/>
          </a:p>
          <a:p>
            <a:endParaRPr lang="ru-RU" dirty="0"/>
          </a:p>
          <a:p>
            <a:r>
              <a:rPr lang="ru-RU" dirty="0"/>
              <a:t>EXCEPT</a:t>
            </a:r>
          </a:p>
          <a:p>
            <a:endParaRPr lang="ru-RU" dirty="0"/>
          </a:p>
          <a:p>
            <a:r>
              <a:rPr lang="ru-RU" dirty="0"/>
              <a:t>SELECT </a:t>
            </a:r>
            <a:r>
              <a:rPr lang="ru-RU" dirty="0" err="1"/>
              <a:t>first_name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staff</a:t>
            </a:r>
            <a:endParaRPr lang="ru-RU" dirty="0"/>
          </a:p>
          <a:p>
            <a:r>
              <a:rPr lang="ru-RU" dirty="0"/>
              <a:t>ORDER BY </a:t>
            </a:r>
            <a:r>
              <a:rPr lang="ru-RU" dirty="0" err="1"/>
              <a:t>first_name</a:t>
            </a:r>
            <a:r>
              <a:rPr lang="ru-RU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46647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54D5-78E4-F151-606D-EA9CB006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3398F56-B35F-198A-A3CA-AF9E509229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26CAA90-B805-5277-94DD-F81B8E3179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486D12B-3D1F-04A6-8FA8-1A550356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/>
          </a:bodyPr>
          <a:lstStyle/>
          <a:p>
            <a:r>
              <a:rPr lang="ru-RU" dirty="0"/>
              <a:t>Вывести кто (</a:t>
            </a:r>
            <a:r>
              <a:rPr lang="ru-RU" dirty="0" err="1"/>
              <a:t>customer_id</a:t>
            </a:r>
            <a:r>
              <a:rPr lang="ru-RU" dirty="0"/>
              <a:t>), когда (</a:t>
            </a:r>
            <a:r>
              <a:rPr lang="ru-RU" dirty="0" err="1"/>
              <a:t>rental_date</a:t>
            </a:r>
            <a:r>
              <a:rPr lang="ru-RU" dirty="0"/>
              <a:t>) (привести к типу </a:t>
            </a:r>
            <a:r>
              <a:rPr lang="ru-RU" dirty="0" err="1"/>
              <a:t>date</a:t>
            </a:r>
            <a:r>
              <a:rPr lang="ru-RU" dirty="0"/>
              <a:t>) и у кого (</a:t>
            </a:r>
            <a:r>
              <a:rPr lang="ru-RU" dirty="0" err="1"/>
              <a:t>staff_id</a:t>
            </a:r>
            <a:r>
              <a:rPr lang="ru-RU" dirty="0"/>
              <a:t>) брал диски в аренду в Июне 2005 года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C41F93-CAF4-8769-4C1C-7E7D118FF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387" y="1380454"/>
            <a:ext cx="3546931" cy="5152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7B28B5-4D4C-6EE4-945E-CF49AD49BBA5}"/>
              </a:ext>
            </a:extLst>
          </p:cNvPr>
          <p:cNvSpPr txBox="1"/>
          <p:nvPr/>
        </p:nvSpPr>
        <p:spPr>
          <a:xfrm>
            <a:off x="1481379" y="2159406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</a:t>
            </a:r>
          </a:p>
          <a:p>
            <a:r>
              <a:rPr lang="ru-RU" dirty="0"/>
              <a:t>    </a:t>
            </a:r>
            <a:r>
              <a:rPr lang="ru-RU" dirty="0" err="1"/>
              <a:t>customer_id</a:t>
            </a:r>
            <a:r>
              <a:rPr lang="ru-RU" dirty="0"/>
              <a:t>,</a:t>
            </a:r>
          </a:p>
          <a:p>
            <a:r>
              <a:rPr lang="ru-RU" dirty="0"/>
              <a:t>    </a:t>
            </a:r>
            <a:r>
              <a:rPr lang="ru-RU" dirty="0" err="1"/>
              <a:t>rental_date</a:t>
            </a:r>
            <a:r>
              <a:rPr lang="ru-RU" dirty="0"/>
              <a:t>::</a:t>
            </a:r>
            <a:r>
              <a:rPr lang="ru-RU" dirty="0" err="1"/>
              <a:t>date</a:t>
            </a:r>
            <a:r>
              <a:rPr lang="ru-RU" dirty="0"/>
              <a:t> AS </a:t>
            </a:r>
            <a:r>
              <a:rPr lang="ru-RU" dirty="0" err="1"/>
              <a:t>rental_date</a:t>
            </a:r>
            <a:r>
              <a:rPr lang="ru-RU" dirty="0"/>
              <a:t>,</a:t>
            </a:r>
          </a:p>
          <a:p>
            <a:r>
              <a:rPr lang="ru-RU" dirty="0"/>
              <a:t>    </a:t>
            </a:r>
            <a:r>
              <a:rPr lang="ru-RU" dirty="0" err="1"/>
              <a:t>staff_id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rental</a:t>
            </a:r>
            <a:endParaRPr lang="ru-RU" dirty="0"/>
          </a:p>
          <a:p>
            <a:r>
              <a:rPr lang="ru-RU" dirty="0"/>
              <a:t>WHERE </a:t>
            </a:r>
            <a:r>
              <a:rPr lang="ru-RU" dirty="0" err="1"/>
              <a:t>rental_date</a:t>
            </a:r>
            <a:r>
              <a:rPr lang="ru-RU" dirty="0"/>
              <a:t> &gt;= DATE '2005-06-01'</a:t>
            </a:r>
          </a:p>
          <a:p>
            <a:r>
              <a:rPr lang="ru-RU" dirty="0"/>
              <a:t>  AND </a:t>
            </a:r>
            <a:r>
              <a:rPr lang="ru-RU" dirty="0" err="1"/>
              <a:t>rental_date</a:t>
            </a:r>
            <a:r>
              <a:rPr lang="ru-RU" dirty="0"/>
              <a:t> &lt;  DATE '2005-07-01'</a:t>
            </a:r>
          </a:p>
          <a:p>
            <a:r>
              <a:rPr lang="ru-RU" dirty="0"/>
              <a:t>ORDER BY </a:t>
            </a:r>
            <a:r>
              <a:rPr lang="ru-RU" dirty="0" err="1"/>
              <a:t>rental_date</a:t>
            </a:r>
            <a:r>
              <a:rPr lang="ru-RU" dirty="0"/>
              <a:t>, </a:t>
            </a:r>
            <a:r>
              <a:rPr lang="ru-RU" dirty="0" err="1"/>
              <a:t>customer_id</a:t>
            </a:r>
            <a:r>
              <a:rPr lang="ru-RU" dirty="0"/>
              <a:t>, </a:t>
            </a:r>
            <a:r>
              <a:rPr lang="ru-RU" dirty="0" err="1"/>
              <a:t>staff_id</a:t>
            </a:r>
            <a:r>
              <a:rPr lang="ru-RU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85757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DC8A-C91E-FDB0-4587-9DADC0BC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5888673-C5AD-8183-1606-AD73179FB2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499862F-2F76-F2E4-A588-3F64CDBF60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3CB13AA-1CD8-24E7-8C42-2026D18C6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Вывести </a:t>
            </a:r>
            <a:r>
              <a:rPr lang="ru-RU" dirty="0" err="1"/>
              <a:t>id</a:t>
            </a:r>
            <a:r>
              <a:rPr lang="ru-RU" dirty="0"/>
              <a:t> всех клиентов, которые имеют 40+ оплат. Посчитать средний размер транзакции для всех клиентов и округлить до 2 знаков, вывести в отдельный столбец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A6B9C-52C3-5430-86E5-077B06E82EA6}"/>
              </a:ext>
            </a:extLst>
          </p:cNvPr>
          <p:cNvSpPr txBox="1"/>
          <p:nvPr/>
        </p:nvSpPr>
        <p:spPr>
          <a:xfrm>
            <a:off x="1481379" y="2413337"/>
            <a:ext cx="60975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</a:t>
            </a:r>
          </a:p>
          <a:p>
            <a:r>
              <a:rPr lang="ru-RU" dirty="0"/>
              <a:t>    </a:t>
            </a:r>
            <a:r>
              <a:rPr lang="ru-RU" dirty="0" err="1"/>
              <a:t>customer_id</a:t>
            </a:r>
            <a:r>
              <a:rPr lang="ru-RU" dirty="0"/>
              <a:t>,</a:t>
            </a:r>
          </a:p>
          <a:p>
            <a:r>
              <a:rPr lang="ru-RU" dirty="0"/>
              <a:t>    ROUND(AVG(</a:t>
            </a:r>
            <a:r>
              <a:rPr lang="ru-RU" dirty="0" err="1"/>
              <a:t>amount</a:t>
            </a:r>
            <a:r>
              <a:rPr lang="ru-RU" dirty="0"/>
              <a:t>), 2) AS </a:t>
            </a:r>
            <a:r>
              <a:rPr lang="ru-RU" dirty="0" err="1"/>
              <a:t>avg_payment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payment</a:t>
            </a:r>
            <a:endParaRPr lang="ru-RU" dirty="0"/>
          </a:p>
          <a:p>
            <a:r>
              <a:rPr lang="ru-RU" dirty="0"/>
              <a:t>GROUP BY </a:t>
            </a:r>
            <a:r>
              <a:rPr lang="ru-RU" dirty="0" err="1"/>
              <a:t>customer_id</a:t>
            </a:r>
            <a:endParaRPr lang="ru-RU" dirty="0"/>
          </a:p>
          <a:p>
            <a:r>
              <a:rPr lang="ru-RU" dirty="0"/>
              <a:t>HAVING COUNT(*) &gt;= 40</a:t>
            </a:r>
          </a:p>
          <a:p>
            <a:r>
              <a:rPr lang="ru-RU" dirty="0"/>
              <a:t>ORDER BY </a:t>
            </a:r>
            <a:r>
              <a:rPr lang="ru-RU" dirty="0" err="1"/>
              <a:t>customer_id</a:t>
            </a:r>
            <a:r>
              <a:rPr lang="ru-RU" dirty="0"/>
              <a:t>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F25AF8-B367-8D23-662E-A1BFA7619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829" y="3044164"/>
            <a:ext cx="3172268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2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A8019-6AB9-7736-D7B9-9E3915C86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C19B31-2BD8-180E-B98B-360A6A01C1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272519-6570-7D98-B370-0E85A160D6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BA56981-8757-63B5-6DA3-29A2DF75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Вывести </a:t>
            </a:r>
            <a:r>
              <a:rPr lang="ru-RU" dirty="0" err="1"/>
              <a:t>id</a:t>
            </a:r>
            <a:r>
              <a:rPr lang="ru-RU" dirty="0"/>
              <a:t>, полное имя актера и посчитать в скольких фильмах снялся. (Подсказка: подумать по какому полю сгруппировать: по имени или по </a:t>
            </a:r>
            <a:r>
              <a:rPr lang="ru-RU" dirty="0" err="1"/>
              <a:t>id</a:t>
            </a:r>
            <a:r>
              <a:rPr lang="ru-RU" dirty="0"/>
              <a:t>). Выяснить, какой актер снялся в </a:t>
            </a:r>
            <a:r>
              <a:rPr lang="ru-RU" dirty="0" err="1"/>
              <a:t>бОльшем</a:t>
            </a:r>
            <a:r>
              <a:rPr lang="ru-RU" dirty="0"/>
              <a:t> количестве фильмов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89BCE-6813-32B5-0771-82D4092E98D0}"/>
              </a:ext>
            </a:extLst>
          </p:cNvPr>
          <p:cNvSpPr txBox="1"/>
          <p:nvPr/>
        </p:nvSpPr>
        <p:spPr>
          <a:xfrm>
            <a:off x="1318417" y="1893460"/>
            <a:ext cx="6097508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SELECT</a:t>
            </a:r>
          </a:p>
          <a:p>
            <a:r>
              <a:rPr lang="ru-RU" sz="1050" dirty="0"/>
              <a:t>    </a:t>
            </a:r>
            <a:r>
              <a:rPr lang="ru-RU" sz="1050" dirty="0" err="1"/>
              <a:t>a.actor_id</a:t>
            </a:r>
            <a:r>
              <a:rPr lang="ru-RU" sz="1050" dirty="0"/>
              <a:t>,</a:t>
            </a:r>
          </a:p>
          <a:p>
            <a:r>
              <a:rPr lang="ru-RU" sz="1050" dirty="0"/>
              <a:t>    </a:t>
            </a:r>
            <a:r>
              <a:rPr lang="ru-RU" sz="1050" dirty="0" err="1"/>
              <a:t>a.first_name</a:t>
            </a:r>
            <a:r>
              <a:rPr lang="ru-RU" sz="1050" dirty="0"/>
              <a:t> || ' ' || </a:t>
            </a:r>
            <a:r>
              <a:rPr lang="ru-RU" sz="1050" dirty="0" err="1"/>
              <a:t>a.last_name</a:t>
            </a:r>
            <a:r>
              <a:rPr lang="ru-RU" sz="1050" dirty="0"/>
              <a:t> AS </a:t>
            </a:r>
            <a:r>
              <a:rPr lang="ru-RU" sz="1050" dirty="0" err="1"/>
              <a:t>full_name</a:t>
            </a:r>
            <a:r>
              <a:rPr lang="ru-RU" sz="1050" dirty="0"/>
              <a:t>,</a:t>
            </a:r>
          </a:p>
          <a:p>
            <a:r>
              <a:rPr lang="ru-RU" sz="1050" dirty="0"/>
              <a:t>    COUNT(</a:t>
            </a:r>
            <a:r>
              <a:rPr lang="ru-RU" sz="1050" dirty="0" err="1"/>
              <a:t>fa.film_id</a:t>
            </a:r>
            <a:r>
              <a:rPr lang="ru-RU" sz="1050" dirty="0"/>
              <a:t>) AS </a:t>
            </a:r>
            <a:r>
              <a:rPr lang="ru-RU" sz="1050" dirty="0" err="1"/>
              <a:t>film_count</a:t>
            </a:r>
            <a:endParaRPr lang="ru-RU" sz="1050" dirty="0"/>
          </a:p>
          <a:p>
            <a:r>
              <a:rPr lang="ru-RU" sz="1050" dirty="0"/>
              <a:t>FROM </a:t>
            </a:r>
            <a:r>
              <a:rPr lang="ru-RU" sz="1050" dirty="0" err="1"/>
              <a:t>actor</a:t>
            </a:r>
            <a:r>
              <a:rPr lang="ru-RU" sz="1050" dirty="0"/>
              <a:t> a</a:t>
            </a:r>
          </a:p>
          <a:p>
            <a:r>
              <a:rPr lang="ru-RU" sz="1050" dirty="0"/>
              <a:t>JOIN </a:t>
            </a:r>
            <a:r>
              <a:rPr lang="ru-RU" sz="1050" dirty="0" err="1"/>
              <a:t>film_actor</a:t>
            </a:r>
            <a:r>
              <a:rPr lang="ru-RU" sz="1050" dirty="0"/>
              <a:t> </a:t>
            </a:r>
            <a:r>
              <a:rPr lang="ru-RU" sz="1050" dirty="0" err="1"/>
              <a:t>fa</a:t>
            </a:r>
            <a:endParaRPr lang="ru-RU" sz="1050" dirty="0"/>
          </a:p>
          <a:p>
            <a:r>
              <a:rPr lang="ru-RU" sz="1050" dirty="0"/>
              <a:t>    ON </a:t>
            </a:r>
            <a:r>
              <a:rPr lang="ru-RU" sz="1050" dirty="0" err="1"/>
              <a:t>fa.actor_id</a:t>
            </a:r>
            <a:r>
              <a:rPr lang="ru-RU" sz="1050" dirty="0"/>
              <a:t> = </a:t>
            </a:r>
            <a:r>
              <a:rPr lang="ru-RU" sz="1050" dirty="0" err="1"/>
              <a:t>a.actor_id</a:t>
            </a:r>
            <a:endParaRPr lang="ru-RU" sz="1050" dirty="0"/>
          </a:p>
          <a:p>
            <a:r>
              <a:rPr lang="ru-RU" sz="1050" dirty="0"/>
              <a:t>GROUP BY </a:t>
            </a:r>
            <a:r>
              <a:rPr lang="ru-RU" sz="1050" dirty="0" err="1"/>
              <a:t>a.actor_id</a:t>
            </a:r>
            <a:r>
              <a:rPr lang="ru-RU" sz="1050" dirty="0"/>
              <a:t>, </a:t>
            </a:r>
            <a:r>
              <a:rPr lang="ru-RU" sz="1050" dirty="0" err="1"/>
              <a:t>a.first_name</a:t>
            </a:r>
            <a:r>
              <a:rPr lang="ru-RU" sz="1050" dirty="0"/>
              <a:t>, </a:t>
            </a:r>
            <a:r>
              <a:rPr lang="ru-RU" sz="1050" dirty="0" err="1"/>
              <a:t>a.last_name</a:t>
            </a:r>
            <a:endParaRPr lang="ru-RU" sz="1050" dirty="0"/>
          </a:p>
          <a:p>
            <a:r>
              <a:rPr lang="ru-RU" sz="1050" dirty="0"/>
              <a:t>ORDER BY </a:t>
            </a:r>
            <a:r>
              <a:rPr lang="ru-RU" sz="1050" dirty="0" err="1"/>
              <a:t>film_count</a:t>
            </a:r>
            <a:r>
              <a:rPr lang="ru-RU" sz="1050" dirty="0"/>
              <a:t> DESC, </a:t>
            </a:r>
            <a:r>
              <a:rPr lang="ru-RU" sz="1050" dirty="0" err="1"/>
              <a:t>a.actor_id</a:t>
            </a:r>
            <a:r>
              <a:rPr lang="ru-RU" sz="1050" dirty="0"/>
              <a:t>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D27029-4E81-E449-7F13-D19282D07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668" y="1609255"/>
            <a:ext cx="3323419" cy="493500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9BA0106-EE99-6083-36B1-2F973ACB8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326" y="5940216"/>
            <a:ext cx="3610479" cy="4763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5385A6-AFCA-C77E-B331-B7E90388C939}"/>
              </a:ext>
            </a:extLst>
          </p:cNvPr>
          <p:cNvSpPr txBox="1"/>
          <p:nvPr/>
        </p:nvSpPr>
        <p:spPr>
          <a:xfrm>
            <a:off x="1130913" y="344003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какой актер снялся в </a:t>
            </a:r>
            <a:r>
              <a:rPr lang="ru-RU" dirty="0" err="1"/>
              <a:t>бОльшем</a:t>
            </a:r>
            <a:r>
              <a:rPr lang="ru-RU" dirty="0"/>
              <a:t> количестве фильмов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71F94-0305-E9D5-409C-23642C8E794F}"/>
              </a:ext>
            </a:extLst>
          </p:cNvPr>
          <p:cNvSpPr txBox="1"/>
          <p:nvPr/>
        </p:nvSpPr>
        <p:spPr>
          <a:xfrm>
            <a:off x="1318417" y="3953041"/>
            <a:ext cx="609750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/>
              <a:t>SELECT</a:t>
            </a:r>
          </a:p>
          <a:p>
            <a:r>
              <a:rPr lang="ru-RU" sz="1050" dirty="0"/>
              <a:t>    </a:t>
            </a:r>
            <a:r>
              <a:rPr lang="ru-RU" sz="1050" dirty="0" err="1"/>
              <a:t>a.actor_id</a:t>
            </a:r>
            <a:r>
              <a:rPr lang="ru-RU" sz="1050" dirty="0"/>
              <a:t>,</a:t>
            </a:r>
          </a:p>
          <a:p>
            <a:r>
              <a:rPr lang="ru-RU" sz="1050" dirty="0"/>
              <a:t>    </a:t>
            </a:r>
            <a:r>
              <a:rPr lang="ru-RU" sz="1050" dirty="0" err="1"/>
              <a:t>a.first_name</a:t>
            </a:r>
            <a:r>
              <a:rPr lang="ru-RU" sz="1050" dirty="0"/>
              <a:t> || ' ' || </a:t>
            </a:r>
            <a:r>
              <a:rPr lang="ru-RU" sz="1050" dirty="0" err="1"/>
              <a:t>a.last_name</a:t>
            </a:r>
            <a:r>
              <a:rPr lang="ru-RU" sz="1050" dirty="0"/>
              <a:t> AS </a:t>
            </a:r>
            <a:r>
              <a:rPr lang="ru-RU" sz="1050" dirty="0" err="1"/>
              <a:t>full_name</a:t>
            </a:r>
            <a:r>
              <a:rPr lang="ru-RU" sz="1050" dirty="0"/>
              <a:t>,</a:t>
            </a:r>
          </a:p>
          <a:p>
            <a:r>
              <a:rPr lang="ru-RU" sz="1050" dirty="0"/>
              <a:t>    COUNT(</a:t>
            </a:r>
            <a:r>
              <a:rPr lang="ru-RU" sz="1050" dirty="0" err="1"/>
              <a:t>fa.film_id</a:t>
            </a:r>
            <a:r>
              <a:rPr lang="ru-RU" sz="1050" dirty="0"/>
              <a:t>) AS </a:t>
            </a:r>
            <a:r>
              <a:rPr lang="ru-RU" sz="1050" dirty="0" err="1"/>
              <a:t>film_count</a:t>
            </a:r>
            <a:endParaRPr lang="ru-RU" sz="1050" dirty="0"/>
          </a:p>
          <a:p>
            <a:r>
              <a:rPr lang="ru-RU" sz="1050" dirty="0"/>
              <a:t>FROM </a:t>
            </a:r>
            <a:r>
              <a:rPr lang="ru-RU" sz="1050" dirty="0" err="1"/>
              <a:t>actor</a:t>
            </a:r>
            <a:r>
              <a:rPr lang="ru-RU" sz="1050" dirty="0"/>
              <a:t> a</a:t>
            </a:r>
          </a:p>
          <a:p>
            <a:r>
              <a:rPr lang="ru-RU" sz="1050" dirty="0"/>
              <a:t>JOIN </a:t>
            </a:r>
            <a:r>
              <a:rPr lang="ru-RU" sz="1050" dirty="0" err="1"/>
              <a:t>film_actor</a:t>
            </a:r>
            <a:r>
              <a:rPr lang="ru-RU" sz="1050" dirty="0"/>
              <a:t> </a:t>
            </a:r>
            <a:r>
              <a:rPr lang="ru-RU" sz="1050" dirty="0" err="1"/>
              <a:t>fa</a:t>
            </a:r>
            <a:endParaRPr lang="ru-RU" sz="1050" dirty="0"/>
          </a:p>
          <a:p>
            <a:r>
              <a:rPr lang="ru-RU" sz="1050" dirty="0"/>
              <a:t>    ON </a:t>
            </a:r>
            <a:r>
              <a:rPr lang="ru-RU" sz="1050" dirty="0" err="1"/>
              <a:t>fa.actor_id</a:t>
            </a:r>
            <a:r>
              <a:rPr lang="ru-RU" sz="1050" dirty="0"/>
              <a:t> = </a:t>
            </a:r>
            <a:r>
              <a:rPr lang="ru-RU" sz="1050" dirty="0" err="1"/>
              <a:t>a.actor_id</a:t>
            </a:r>
            <a:endParaRPr lang="ru-RU" sz="1050" dirty="0"/>
          </a:p>
          <a:p>
            <a:r>
              <a:rPr lang="ru-RU" sz="1050" dirty="0"/>
              <a:t>GROUP BY </a:t>
            </a:r>
            <a:r>
              <a:rPr lang="ru-RU" sz="1050" dirty="0" err="1"/>
              <a:t>a.actor_id</a:t>
            </a:r>
            <a:r>
              <a:rPr lang="ru-RU" sz="1050" dirty="0"/>
              <a:t>, </a:t>
            </a:r>
            <a:r>
              <a:rPr lang="ru-RU" sz="1050" dirty="0" err="1"/>
              <a:t>a.first_name</a:t>
            </a:r>
            <a:r>
              <a:rPr lang="ru-RU" sz="1050" dirty="0"/>
              <a:t>, </a:t>
            </a:r>
            <a:r>
              <a:rPr lang="ru-RU" sz="1050" dirty="0" err="1"/>
              <a:t>a.last_name</a:t>
            </a:r>
            <a:endParaRPr lang="ru-RU" sz="1050" dirty="0"/>
          </a:p>
          <a:p>
            <a:r>
              <a:rPr lang="ru-RU" sz="1050" dirty="0"/>
              <a:t>ORDER BY </a:t>
            </a:r>
            <a:r>
              <a:rPr lang="ru-RU" sz="1050" dirty="0" err="1"/>
              <a:t>film_count</a:t>
            </a:r>
            <a:r>
              <a:rPr lang="ru-RU" sz="1050" dirty="0"/>
              <a:t> DESC, </a:t>
            </a:r>
            <a:r>
              <a:rPr lang="ru-RU" sz="1050" dirty="0" err="1"/>
              <a:t>a.actor_id</a:t>
            </a:r>
            <a:endParaRPr lang="ru-RU" sz="1050" dirty="0"/>
          </a:p>
          <a:p>
            <a:r>
              <a:rPr lang="ru-RU" sz="1050" dirty="0"/>
              <a:t>LIMIT 1;</a:t>
            </a:r>
          </a:p>
        </p:txBody>
      </p:sp>
    </p:spTree>
    <p:extLst>
      <p:ext uri="{BB962C8B-B14F-4D97-AF65-F5344CB8AC3E}">
        <p14:creationId xmlns:p14="http://schemas.microsoft.com/office/powerpoint/2010/main" val="3826996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8375-5C0C-CA93-890B-C31F21F2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397FFF-FE45-AC0E-D742-9EF98D84B6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9473A45-44B4-EEFF-3323-CBBD4EB151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46A5AD3-1050-D31C-A353-CA00F489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Посчитать выручку в каждом месяце работы проката. Месяц должен рассчитываться по </a:t>
            </a:r>
            <a:r>
              <a:rPr lang="ru-RU" dirty="0" err="1"/>
              <a:t>rental_date</a:t>
            </a:r>
            <a:r>
              <a:rPr lang="ru-RU" dirty="0"/>
              <a:t>, а не по </a:t>
            </a:r>
            <a:r>
              <a:rPr lang="ru-RU" dirty="0" err="1"/>
              <a:t>payment_date</a:t>
            </a:r>
            <a:r>
              <a:rPr lang="ru-RU" dirty="0"/>
              <a:t>. Округлить выручку до одного знака после запятой. Отсортировать строки в хронологическом порядке. ( Подсказка: есть месяц проката, где выручки не было (нет данных о платежах) – он должен присутствовать в отчете)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DBC23F-F1C3-7421-6EA2-CAFACA8C4915}"/>
              </a:ext>
            </a:extLst>
          </p:cNvPr>
          <p:cNvSpPr txBox="1"/>
          <p:nvPr/>
        </p:nvSpPr>
        <p:spPr>
          <a:xfrm>
            <a:off x="1408952" y="2532798"/>
            <a:ext cx="449278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WITH </a:t>
            </a:r>
            <a:r>
              <a:rPr lang="ru-RU" sz="1100" dirty="0" err="1"/>
              <a:t>months</a:t>
            </a:r>
            <a:r>
              <a:rPr lang="ru-RU" sz="1100" dirty="0"/>
              <a:t> AS (</a:t>
            </a:r>
          </a:p>
          <a:p>
            <a:r>
              <a:rPr lang="ru-RU" sz="1100" dirty="0"/>
              <a:t>    SELECT </a:t>
            </a:r>
            <a:r>
              <a:rPr lang="ru-RU" sz="1100" dirty="0" err="1"/>
              <a:t>generate_series</a:t>
            </a:r>
            <a:r>
              <a:rPr lang="ru-RU" sz="1100" dirty="0"/>
              <a:t>(</a:t>
            </a:r>
          </a:p>
          <a:p>
            <a:r>
              <a:rPr lang="ru-RU" sz="1100" dirty="0"/>
              <a:t>        </a:t>
            </a:r>
            <a:r>
              <a:rPr lang="ru-RU" sz="1100" dirty="0" err="1"/>
              <a:t>date_trunc</a:t>
            </a:r>
            <a:r>
              <a:rPr lang="ru-RU" sz="1100" dirty="0"/>
              <a:t>('</a:t>
            </a:r>
            <a:r>
              <a:rPr lang="ru-RU" sz="1100" dirty="0" err="1"/>
              <a:t>month</a:t>
            </a:r>
            <a:r>
              <a:rPr lang="ru-RU" sz="1100" dirty="0"/>
              <a:t>', MIN(</a:t>
            </a:r>
            <a:r>
              <a:rPr lang="ru-RU" sz="1100" dirty="0" err="1"/>
              <a:t>rental_date</a:t>
            </a:r>
            <a:r>
              <a:rPr lang="ru-RU" sz="1100" dirty="0"/>
              <a:t>)),</a:t>
            </a:r>
          </a:p>
          <a:p>
            <a:r>
              <a:rPr lang="ru-RU" sz="1100" dirty="0"/>
              <a:t>        </a:t>
            </a:r>
            <a:r>
              <a:rPr lang="ru-RU" sz="1100" dirty="0" err="1"/>
              <a:t>date_trunc</a:t>
            </a:r>
            <a:r>
              <a:rPr lang="ru-RU" sz="1100" dirty="0"/>
              <a:t>('</a:t>
            </a:r>
            <a:r>
              <a:rPr lang="ru-RU" sz="1100" dirty="0" err="1"/>
              <a:t>month</a:t>
            </a:r>
            <a:r>
              <a:rPr lang="ru-RU" sz="1100" dirty="0"/>
              <a:t>', MAX(</a:t>
            </a:r>
            <a:r>
              <a:rPr lang="ru-RU" sz="1100" dirty="0" err="1"/>
              <a:t>rental_date</a:t>
            </a:r>
            <a:r>
              <a:rPr lang="ru-RU" sz="1100" dirty="0"/>
              <a:t>)),</a:t>
            </a:r>
          </a:p>
          <a:p>
            <a:r>
              <a:rPr lang="ru-RU" sz="1100" dirty="0"/>
              <a:t>        </a:t>
            </a:r>
            <a:r>
              <a:rPr lang="ru-RU" sz="1100" dirty="0" err="1"/>
              <a:t>interval</a:t>
            </a:r>
            <a:r>
              <a:rPr lang="ru-RU" sz="1100" dirty="0"/>
              <a:t> '1 </a:t>
            </a:r>
            <a:r>
              <a:rPr lang="ru-RU" sz="1100" dirty="0" err="1"/>
              <a:t>month</a:t>
            </a:r>
            <a:r>
              <a:rPr lang="ru-RU" sz="1100" dirty="0"/>
              <a:t>'</a:t>
            </a:r>
          </a:p>
          <a:p>
            <a:r>
              <a:rPr lang="ru-RU" sz="1100" dirty="0"/>
              <a:t>    )::</a:t>
            </a:r>
            <a:r>
              <a:rPr lang="ru-RU" sz="1100" dirty="0" err="1"/>
              <a:t>date</a:t>
            </a:r>
            <a:r>
              <a:rPr lang="ru-RU" sz="1100" dirty="0"/>
              <a:t> AS </a:t>
            </a:r>
            <a:r>
              <a:rPr lang="ru-RU" sz="1100" dirty="0" err="1"/>
              <a:t>month_start</a:t>
            </a:r>
            <a:endParaRPr lang="ru-RU" sz="1100" dirty="0"/>
          </a:p>
          <a:p>
            <a:r>
              <a:rPr lang="ru-RU" sz="1100" dirty="0"/>
              <a:t>    FROM </a:t>
            </a:r>
            <a:r>
              <a:rPr lang="ru-RU" sz="1100" dirty="0" err="1"/>
              <a:t>rental</a:t>
            </a:r>
            <a:endParaRPr lang="ru-RU" sz="1100" dirty="0"/>
          </a:p>
          <a:p>
            <a:r>
              <a:rPr lang="ru-RU" sz="1100" dirty="0"/>
              <a:t>),</a:t>
            </a:r>
          </a:p>
          <a:p>
            <a:r>
              <a:rPr lang="ru-RU" sz="1100" dirty="0" err="1"/>
              <a:t>month_revenue</a:t>
            </a:r>
            <a:r>
              <a:rPr lang="ru-RU" sz="1100" dirty="0"/>
              <a:t> AS (</a:t>
            </a:r>
          </a:p>
          <a:p>
            <a:r>
              <a:rPr lang="ru-RU" sz="1100" dirty="0"/>
              <a:t>    SELECT</a:t>
            </a:r>
          </a:p>
          <a:p>
            <a:r>
              <a:rPr lang="ru-RU" sz="1100" dirty="0"/>
              <a:t>        </a:t>
            </a:r>
            <a:r>
              <a:rPr lang="ru-RU" sz="1100" dirty="0" err="1"/>
              <a:t>date_trunc</a:t>
            </a:r>
            <a:r>
              <a:rPr lang="ru-RU" sz="1100" dirty="0"/>
              <a:t>('</a:t>
            </a:r>
            <a:r>
              <a:rPr lang="ru-RU" sz="1100" dirty="0" err="1"/>
              <a:t>month</a:t>
            </a:r>
            <a:r>
              <a:rPr lang="ru-RU" sz="1100" dirty="0"/>
              <a:t>', </a:t>
            </a:r>
            <a:r>
              <a:rPr lang="ru-RU" sz="1100" dirty="0" err="1"/>
              <a:t>r.rental_date</a:t>
            </a:r>
            <a:r>
              <a:rPr lang="ru-RU" sz="1100" dirty="0"/>
              <a:t>)::</a:t>
            </a:r>
            <a:r>
              <a:rPr lang="ru-RU" sz="1100" dirty="0" err="1"/>
              <a:t>date</a:t>
            </a:r>
            <a:r>
              <a:rPr lang="ru-RU" sz="1100" dirty="0"/>
              <a:t> AS </a:t>
            </a:r>
            <a:r>
              <a:rPr lang="ru-RU" sz="1100" dirty="0" err="1"/>
              <a:t>month_start</a:t>
            </a:r>
            <a:r>
              <a:rPr lang="ru-RU" sz="1100" dirty="0"/>
              <a:t>,</a:t>
            </a:r>
          </a:p>
          <a:p>
            <a:r>
              <a:rPr lang="ru-RU" sz="1100" dirty="0"/>
              <a:t>        COALESCE(SUM(</a:t>
            </a:r>
            <a:r>
              <a:rPr lang="ru-RU" sz="1100" dirty="0" err="1"/>
              <a:t>p.amount</a:t>
            </a:r>
            <a:r>
              <a:rPr lang="ru-RU" sz="1100" dirty="0"/>
              <a:t>), 0) AS </a:t>
            </a:r>
            <a:r>
              <a:rPr lang="ru-RU" sz="1100" dirty="0" err="1"/>
              <a:t>revenue</a:t>
            </a:r>
            <a:endParaRPr lang="ru-RU" sz="1100" dirty="0"/>
          </a:p>
          <a:p>
            <a:r>
              <a:rPr lang="ru-RU" sz="1100" dirty="0"/>
              <a:t>    FROM </a:t>
            </a:r>
            <a:r>
              <a:rPr lang="ru-RU" sz="1100" dirty="0" err="1"/>
              <a:t>rental</a:t>
            </a:r>
            <a:r>
              <a:rPr lang="ru-RU" sz="1100" dirty="0"/>
              <a:t> r</a:t>
            </a:r>
          </a:p>
          <a:p>
            <a:r>
              <a:rPr lang="ru-RU" sz="1100" dirty="0"/>
              <a:t>    LEFT JOIN </a:t>
            </a:r>
            <a:r>
              <a:rPr lang="ru-RU" sz="1100" dirty="0" err="1"/>
              <a:t>payment</a:t>
            </a:r>
            <a:r>
              <a:rPr lang="ru-RU" sz="1100" dirty="0"/>
              <a:t> p</a:t>
            </a:r>
          </a:p>
          <a:p>
            <a:r>
              <a:rPr lang="ru-RU" sz="1100" dirty="0"/>
              <a:t>        ON </a:t>
            </a:r>
            <a:r>
              <a:rPr lang="ru-RU" sz="1100" dirty="0" err="1"/>
              <a:t>p.rental_id</a:t>
            </a:r>
            <a:r>
              <a:rPr lang="ru-RU" sz="1100" dirty="0"/>
              <a:t> = </a:t>
            </a:r>
            <a:r>
              <a:rPr lang="ru-RU" sz="1100" dirty="0" err="1"/>
              <a:t>r.rental_id</a:t>
            </a:r>
            <a:endParaRPr lang="ru-RU" sz="1100" dirty="0"/>
          </a:p>
          <a:p>
            <a:r>
              <a:rPr lang="ru-RU" sz="1100" dirty="0"/>
              <a:t>    GROUP BY </a:t>
            </a:r>
            <a:r>
              <a:rPr lang="ru-RU" sz="1100" dirty="0" err="1"/>
              <a:t>date_trunc</a:t>
            </a:r>
            <a:r>
              <a:rPr lang="ru-RU" sz="1100" dirty="0"/>
              <a:t>('</a:t>
            </a:r>
            <a:r>
              <a:rPr lang="ru-RU" sz="1100" dirty="0" err="1"/>
              <a:t>month</a:t>
            </a:r>
            <a:r>
              <a:rPr lang="ru-RU" sz="1100" dirty="0"/>
              <a:t>', </a:t>
            </a:r>
            <a:r>
              <a:rPr lang="ru-RU" sz="1100" dirty="0" err="1"/>
              <a:t>r.rental_date</a:t>
            </a:r>
            <a:r>
              <a:rPr lang="ru-RU" sz="1100" dirty="0"/>
              <a:t>)::</a:t>
            </a:r>
            <a:r>
              <a:rPr lang="ru-RU" sz="1100" dirty="0" err="1"/>
              <a:t>date</a:t>
            </a:r>
            <a:endParaRPr lang="ru-RU" sz="1100" dirty="0"/>
          </a:p>
          <a:p>
            <a:r>
              <a:rPr lang="ru-RU" sz="1100" dirty="0"/>
              <a:t>)</a:t>
            </a:r>
          </a:p>
          <a:p>
            <a:r>
              <a:rPr lang="ru-RU" sz="1100" dirty="0"/>
              <a:t>SELECT</a:t>
            </a:r>
          </a:p>
          <a:p>
            <a:r>
              <a:rPr lang="ru-RU" sz="1100" dirty="0"/>
              <a:t>    TO_CHAR(</a:t>
            </a:r>
            <a:r>
              <a:rPr lang="ru-RU" sz="1100" dirty="0" err="1"/>
              <a:t>m.month_start</a:t>
            </a:r>
            <a:r>
              <a:rPr lang="ru-RU" sz="1100" dirty="0"/>
              <a:t>, 'YYYY-MM') AS </a:t>
            </a:r>
            <a:r>
              <a:rPr lang="ru-RU" sz="1100" dirty="0" err="1"/>
              <a:t>rental_month</a:t>
            </a:r>
            <a:r>
              <a:rPr lang="ru-RU" sz="1100" dirty="0"/>
              <a:t>,</a:t>
            </a:r>
          </a:p>
          <a:p>
            <a:r>
              <a:rPr lang="ru-RU" sz="1100" dirty="0"/>
              <a:t>    ROUND(COALESCE(</a:t>
            </a:r>
            <a:r>
              <a:rPr lang="ru-RU" sz="1100" dirty="0" err="1"/>
              <a:t>mr.revenue</a:t>
            </a:r>
            <a:r>
              <a:rPr lang="ru-RU" sz="1100" dirty="0"/>
              <a:t>, 0), 1) AS </a:t>
            </a:r>
            <a:r>
              <a:rPr lang="ru-RU" sz="1100" dirty="0" err="1"/>
              <a:t>revenue</a:t>
            </a:r>
            <a:endParaRPr lang="ru-RU" sz="1100" dirty="0"/>
          </a:p>
          <a:p>
            <a:r>
              <a:rPr lang="ru-RU" sz="1100" dirty="0"/>
              <a:t>FROM </a:t>
            </a:r>
            <a:r>
              <a:rPr lang="ru-RU" sz="1100" dirty="0" err="1"/>
              <a:t>months</a:t>
            </a:r>
            <a:r>
              <a:rPr lang="ru-RU" sz="1100" dirty="0"/>
              <a:t> m</a:t>
            </a:r>
          </a:p>
          <a:p>
            <a:r>
              <a:rPr lang="ru-RU" sz="1100" dirty="0"/>
              <a:t>LEFT JOIN </a:t>
            </a:r>
            <a:r>
              <a:rPr lang="ru-RU" sz="1100" dirty="0" err="1"/>
              <a:t>month_revenue</a:t>
            </a:r>
            <a:r>
              <a:rPr lang="ru-RU" sz="1100" dirty="0"/>
              <a:t> </a:t>
            </a:r>
            <a:r>
              <a:rPr lang="ru-RU" sz="1100" dirty="0" err="1"/>
              <a:t>mr</a:t>
            </a:r>
            <a:endParaRPr lang="ru-RU" sz="1100" dirty="0"/>
          </a:p>
          <a:p>
            <a:r>
              <a:rPr lang="ru-RU" sz="1100" dirty="0"/>
              <a:t>    ON </a:t>
            </a:r>
            <a:r>
              <a:rPr lang="ru-RU" sz="1100" dirty="0" err="1"/>
              <a:t>mr.month_start</a:t>
            </a:r>
            <a:r>
              <a:rPr lang="ru-RU" sz="1100" dirty="0"/>
              <a:t> = </a:t>
            </a:r>
            <a:r>
              <a:rPr lang="ru-RU" sz="1100" dirty="0" err="1"/>
              <a:t>m.month_start</a:t>
            </a:r>
            <a:endParaRPr lang="ru-RU" sz="1100" dirty="0"/>
          </a:p>
          <a:p>
            <a:r>
              <a:rPr lang="ru-RU" sz="1100" dirty="0"/>
              <a:t>ORDER BY </a:t>
            </a:r>
            <a:r>
              <a:rPr lang="ru-RU" sz="1100" dirty="0" err="1"/>
              <a:t>m.month_start</a:t>
            </a:r>
            <a:r>
              <a:rPr lang="ru-RU" sz="1100" dirty="0"/>
              <a:t>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137864-430A-9AF7-F406-D4E47FE37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766" y="2747532"/>
            <a:ext cx="3758381" cy="272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91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B3FA5-B8FF-4718-E7A5-701AC5B8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7598B44-5207-ECB3-6DE9-3773A43E46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D24DBE3-5FAB-3441-D50D-B76A3B8D67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CC6EC0B-D1D2-FE4D-537C-EBCCB816B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Найти средний платеж по каждому жанру фильма. Отобразить только те жанры, к которым относится более 60 различных фильмов. Округлить средний платеж до двух знаков после запятой. Дать названия столбцам. Отобразить жанры в порядке убывания среднего платежа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07C452-3B6F-C3B6-C329-D17339113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672" y="3060010"/>
            <a:ext cx="3048425" cy="15527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11DBEB-C28F-F3EF-6AC5-F56522DBF0C0}"/>
              </a:ext>
            </a:extLst>
          </p:cNvPr>
          <p:cNvSpPr txBox="1"/>
          <p:nvPr/>
        </p:nvSpPr>
        <p:spPr>
          <a:xfrm>
            <a:off x="1481379" y="2326029"/>
            <a:ext cx="60975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</a:t>
            </a:r>
          </a:p>
          <a:p>
            <a:r>
              <a:rPr lang="ru-RU" dirty="0"/>
              <a:t>    c.name AS </a:t>
            </a:r>
            <a:r>
              <a:rPr lang="ru-RU" dirty="0" err="1"/>
              <a:t>genre_name</a:t>
            </a:r>
            <a:r>
              <a:rPr lang="ru-RU" dirty="0"/>
              <a:t>,</a:t>
            </a:r>
          </a:p>
          <a:p>
            <a:r>
              <a:rPr lang="ru-RU" dirty="0"/>
              <a:t>    ROUND(AVG(</a:t>
            </a:r>
            <a:r>
              <a:rPr lang="ru-RU" dirty="0" err="1"/>
              <a:t>p.amount</a:t>
            </a:r>
            <a:r>
              <a:rPr lang="ru-RU" dirty="0"/>
              <a:t>), 2) AS </a:t>
            </a:r>
            <a:r>
              <a:rPr lang="ru-RU" dirty="0" err="1"/>
              <a:t>avg_payment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category</a:t>
            </a:r>
            <a:r>
              <a:rPr lang="ru-RU" dirty="0"/>
              <a:t> c</a:t>
            </a:r>
          </a:p>
          <a:p>
            <a:r>
              <a:rPr lang="ru-RU" dirty="0"/>
              <a:t>JOIN </a:t>
            </a:r>
            <a:r>
              <a:rPr lang="ru-RU" dirty="0" err="1"/>
              <a:t>film_category</a:t>
            </a:r>
            <a:r>
              <a:rPr lang="ru-RU" dirty="0"/>
              <a:t> </a:t>
            </a:r>
            <a:r>
              <a:rPr lang="ru-RU" dirty="0" err="1"/>
              <a:t>fc</a:t>
            </a:r>
            <a:endParaRPr lang="ru-RU" dirty="0"/>
          </a:p>
          <a:p>
            <a:r>
              <a:rPr lang="ru-RU" dirty="0"/>
              <a:t>    ON </a:t>
            </a:r>
            <a:r>
              <a:rPr lang="ru-RU" dirty="0" err="1"/>
              <a:t>fc.category_id</a:t>
            </a:r>
            <a:r>
              <a:rPr lang="ru-RU" dirty="0"/>
              <a:t> = </a:t>
            </a:r>
            <a:r>
              <a:rPr lang="ru-RU" dirty="0" err="1"/>
              <a:t>c.category_id</a:t>
            </a:r>
            <a:endParaRPr lang="ru-RU" dirty="0"/>
          </a:p>
          <a:p>
            <a:r>
              <a:rPr lang="ru-RU" dirty="0"/>
              <a:t>JOIN </a:t>
            </a:r>
            <a:r>
              <a:rPr lang="ru-RU" dirty="0" err="1"/>
              <a:t>inventory</a:t>
            </a:r>
            <a:r>
              <a:rPr lang="ru-RU" dirty="0"/>
              <a:t> i</a:t>
            </a:r>
          </a:p>
          <a:p>
            <a:r>
              <a:rPr lang="ru-RU" dirty="0"/>
              <a:t>    ON </a:t>
            </a:r>
            <a:r>
              <a:rPr lang="ru-RU" dirty="0" err="1"/>
              <a:t>i.film_id</a:t>
            </a:r>
            <a:r>
              <a:rPr lang="ru-RU" dirty="0"/>
              <a:t> = </a:t>
            </a:r>
            <a:r>
              <a:rPr lang="ru-RU" dirty="0" err="1"/>
              <a:t>fc.film_id</a:t>
            </a:r>
            <a:endParaRPr lang="ru-RU" dirty="0"/>
          </a:p>
          <a:p>
            <a:r>
              <a:rPr lang="ru-RU" dirty="0"/>
              <a:t>JOIN </a:t>
            </a:r>
            <a:r>
              <a:rPr lang="ru-RU" dirty="0" err="1"/>
              <a:t>rental</a:t>
            </a:r>
            <a:r>
              <a:rPr lang="ru-RU" dirty="0"/>
              <a:t> r</a:t>
            </a:r>
          </a:p>
          <a:p>
            <a:r>
              <a:rPr lang="ru-RU" dirty="0"/>
              <a:t>    ON </a:t>
            </a:r>
            <a:r>
              <a:rPr lang="ru-RU" dirty="0" err="1"/>
              <a:t>r.inventory_id</a:t>
            </a:r>
            <a:r>
              <a:rPr lang="ru-RU" dirty="0"/>
              <a:t> = </a:t>
            </a:r>
            <a:r>
              <a:rPr lang="ru-RU" dirty="0" err="1"/>
              <a:t>i.inventory_id</a:t>
            </a:r>
            <a:endParaRPr lang="ru-RU" dirty="0"/>
          </a:p>
          <a:p>
            <a:r>
              <a:rPr lang="ru-RU" dirty="0"/>
              <a:t>JOIN </a:t>
            </a:r>
            <a:r>
              <a:rPr lang="ru-RU" dirty="0" err="1"/>
              <a:t>payment</a:t>
            </a:r>
            <a:r>
              <a:rPr lang="ru-RU" dirty="0"/>
              <a:t> p</a:t>
            </a:r>
          </a:p>
          <a:p>
            <a:r>
              <a:rPr lang="ru-RU" dirty="0"/>
              <a:t>    ON </a:t>
            </a:r>
            <a:r>
              <a:rPr lang="ru-RU" dirty="0" err="1"/>
              <a:t>p.rental_id</a:t>
            </a:r>
            <a:r>
              <a:rPr lang="ru-RU" dirty="0"/>
              <a:t> = </a:t>
            </a:r>
            <a:r>
              <a:rPr lang="ru-RU" dirty="0" err="1"/>
              <a:t>r.rental_id</a:t>
            </a:r>
            <a:endParaRPr lang="ru-RU" dirty="0"/>
          </a:p>
          <a:p>
            <a:r>
              <a:rPr lang="ru-RU" dirty="0"/>
              <a:t>GROUP BY </a:t>
            </a:r>
            <a:r>
              <a:rPr lang="ru-RU" dirty="0" err="1"/>
              <a:t>c.category_id</a:t>
            </a:r>
            <a:r>
              <a:rPr lang="ru-RU" dirty="0"/>
              <a:t>, c.name</a:t>
            </a:r>
          </a:p>
          <a:p>
            <a:r>
              <a:rPr lang="ru-RU" dirty="0"/>
              <a:t>HAVING COUNT(DISTINCT </a:t>
            </a:r>
            <a:r>
              <a:rPr lang="ru-RU" dirty="0" err="1"/>
              <a:t>fc.film_id</a:t>
            </a:r>
            <a:r>
              <a:rPr lang="ru-RU" dirty="0"/>
              <a:t>) &gt; 60</a:t>
            </a:r>
          </a:p>
          <a:p>
            <a:r>
              <a:rPr lang="ru-RU" dirty="0"/>
              <a:t>ORDER BY </a:t>
            </a:r>
            <a:r>
              <a:rPr lang="ru-RU" dirty="0" err="1"/>
              <a:t>avg_payment</a:t>
            </a:r>
            <a:r>
              <a:rPr lang="ru-RU" dirty="0"/>
              <a:t> DESC, </a:t>
            </a:r>
            <a:r>
              <a:rPr lang="ru-RU" dirty="0" err="1"/>
              <a:t>genre_name</a:t>
            </a:r>
            <a:r>
              <a:rPr lang="ru-RU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53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4AEEC-A4CB-9286-B3B9-C7828A90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46EE4C8-6CAE-FD85-F8FB-0BF30BA076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E883994-8B35-C478-68A4-58273E1A66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BF280BF-CAD6-5E55-044C-6E10ED4C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Какие фильмы чаще всего берут напрокат по субботам? Показать названия первых 5 по популярности фильмов. Если у фильмов одинаковая популярность, отдать предпочтение первому по алфавиту.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204CF0-0920-A394-F33E-7CC435D8A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008" y="2641256"/>
            <a:ext cx="3448707" cy="15754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5F8A13-5259-9ECB-CF44-8D1F9E6799D8}"/>
              </a:ext>
            </a:extLst>
          </p:cNvPr>
          <p:cNvSpPr txBox="1"/>
          <p:nvPr/>
        </p:nvSpPr>
        <p:spPr>
          <a:xfrm>
            <a:off x="1481379" y="1958493"/>
            <a:ext cx="60975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</a:t>
            </a:r>
          </a:p>
          <a:p>
            <a:r>
              <a:rPr lang="ru-RU" dirty="0"/>
              <a:t>    </a:t>
            </a:r>
            <a:r>
              <a:rPr lang="ru-RU" dirty="0" err="1"/>
              <a:t>f.title</a:t>
            </a:r>
            <a:r>
              <a:rPr lang="ru-RU" dirty="0"/>
              <a:t>,</a:t>
            </a:r>
          </a:p>
          <a:p>
            <a:r>
              <a:rPr lang="ru-RU" dirty="0"/>
              <a:t>    COUNT(*) AS </a:t>
            </a:r>
            <a:r>
              <a:rPr lang="ru-RU" dirty="0" err="1"/>
              <a:t>rental_count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rental</a:t>
            </a:r>
            <a:r>
              <a:rPr lang="ru-RU" dirty="0"/>
              <a:t> r</a:t>
            </a:r>
          </a:p>
          <a:p>
            <a:r>
              <a:rPr lang="ru-RU" dirty="0"/>
              <a:t>JOIN </a:t>
            </a:r>
            <a:r>
              <a:rPr lang="ru-RU" dirty="0" err="1"/>
              <a:t>inventory</a:t>
            </a:r>
            <a:r>
              <a:rPr lang="ru-RU" dirty="0"/>
              <a:t> i</a:t>
            </a:r>
          </a:p>
          <a:p>
            <a:r>
              <a:rPr lang="ru-RU" dirty="0"/>
              <a:t>    ON </a:t>
            </a:r>
            <a:r>
              <a:rPr lang="ru-RU" dirty="0" err="1"/>
              <a:t>i.inventory_id</a:t>
            </a:r>
            <a:r>
              <a:rPr lang="ru-RU" dirty="0"/>
              <a:t> = </a:t>
            </a:r>
            <a:r>
              <a:rPr lang="ru-RU" dirty="0" err="1"/>
              <a:t>r.inventory_id</a:t>
            </a:r>
            <a:endParaRPr lang="ru-RU" dirty="0"/>
          </a:p>
          <a:p>
            <a:r>
              <a:rPr lang="ru-RU" dirty="0"/>
              <a:t>JOIN </a:t>
            </a:r>
            <a:r>
              <a:rPr lang="ru-RU" dirty="0" err="1"/>
              <a:t>film</a:t>
            </a:r>
            <a:r>
              <a:rPr lang="ru-RU" dirty="0"/>
              <a:t> f</a:t>
            </a:r>
          </a:p>
          <a:p>
            <a:r>
              <a:rPr lang="ru-RU" dirty="0"/>
              <a:t>    ON </a:t>
            </a:r>
            <a:r>
              <a:rPr lang="ru-RU" dirty="0" err="1"/>
              <a:t>f.film_id</a:t>
            </a:r>
            <a:r>
              <a:rPr lang="ru-RU" dirty="0"/>
              <a:t> = </a:t>
            </a:r>
            <a:r>
              <a:rPr lang="ru-RU" dirty="0" err="1"/>
              <a:t>i.film_id</a:t>
            </a:r>
            <a:endParaRPr lang="ru-RU" dirty="0"/>
          </a:p>
          <a:p>
            <a:r>
              <a:rPr lang="ru-RU" dirty="0"/>
              <a:t>WHERE EXTRACT(ISODOW FROM </a:t>
            </a:r>
            <a:r>
              <a:rPr lang="ru-RU" dirty="0" err="1"/>
              <a:t>r.rental_date</a:t>
            </a:r>
            <a:r>
              <a:rPr lang="ru-RU" dirty="0"/>
              <a:t>) = 6</a:t>
            </a:r>
          </a:p>
          <a:p>
            <a:r>
              <a:rPr lang="ru-RU" dirty="0"/>
              <a:t>GROUP BY </a:t>
            </a:r>
            <a:r>
              <a:rPr lang="ru-RU" dirty="0" err="1"/>
              <a:t>f.film_id</a:t>
            </a:r>
            <a:r>
              <a:rPr lang="ru-RU" dirty="0"/>
              <a:t>, </a:t>
            </a:r>
            <a:r>
              <a:rPr lang="ru-RU" dirty="0" err="1"/>
              <a:t>f.title</a:t>
            </a:r>
            <a:endParaRPr lang="ru-RU" dirty="0"/>
          </a:p>
          <a:p>
            <a:r>
              <a:rPr lang="ru-RU" dirty="0"/>
              <a:t>ORDER BY </a:t>
            </a:r>
            <a:r>
              <a:rPr lang="ru-RU" dirty="0" err="1"/>
              <a:t>rental_count</a:t>
            </a:r>
            <a:r>
              <a:rPr lang="ru-RU" dirty="0"/>
              <a:t> DESC, </a:t>
            </a:r>
            <a:r>
              <a:rPr lang="ru-RU" dirty="0" err="1"/>
              <a:t>f.title</a:t>
            </a:r>
            <a:r>
              <a:rPr lang="ru-RU" dirty="0"/>
              <a:t> ASC</a:t>
            </a:r>
          </a:p>
          <a:p>
            <a:r>
              <a:rPr lang="ru-RU" dirty="0"/>
              <a:t>LIMIT 5;</a:t>
            </a:r>
          </a:p>
        </p:txBody>
      </p:sp>
    </p:spTree>
    <p:extLst>
      <p:ext uri="{BB962C8B-B14F-4D97-AF65-F5344CB8AC3E}">
        <p14:creationId xmlns:p14="http://schemas.microsoft.com/office/powerpoint/2010/main" val="3111025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8B3EA-CBBA-3F0A-3400-04DBF936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9346588-91CC-A2C8-0D16-1760D02734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71D3C6-19C3-0BFF-1219-F22F3174B9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22859E7-934C-D578-17A9-2961A4F7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«Оконные функции, простые запросы, накопление»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6E110-E6B9-A6FB-E8D1-5D1F6C0C2BEB}"/>
              </a:ext>
            </a:extLst>
          </p:cNvPr>
          <p:cNvSpPr txBox="1"/>
          <p:nvPr/>
        </p:nvSpPr>
        <p:spPr>
          <a:xfrm>
            <a:off x="1481379" y="1380456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Вывести сумму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дату и день недели для каждой оплаты 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текстом</a:t>
            </a:r>
            <a:r>
              <a:rPr lang="ru-RU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7BD84-FDA8-4CDA-F3EF-3BC724A60C9E}"/>
              </a:ext>
            </a:extLst>
          </p:cNvPr>
          <p:cNvSpPr txBox="1"/>
          <p:nvPr/>
        </p:nvSpPr>
        <p:spPr>
          <a:xfrm>
            <a:off x="1481379" y="2306183"/>
            <a:ext cx="60975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</a:t>
            </a:r>
          </a:p>
          <a:p>
            <a:r>
              <a:rPr lang="ru-RU" dirty="0"/>
              <a:t>    </a:t>
            </a:r>
            <a:r>
              <a:rPr lang="ru-RU" dirty="0" err="1"/>
              <a:t>amount</a:t>
            </a:r>
            <a:r>
              <a:rPr lang="ru-RU" dirty="0"/>
              <a:t>,</a:t>
            </a:r>
          </a:p>
          <a:p>
            <a:r>
              <a:rPr lang="ru-RU" dirty="0"/>
              <a:t>    </a:t>
            </a:r>
            <a:r>
              <a:rPr lang="ru-RU" dirty="0" err="1"/>
              <a:t>payment_date</a:t>
            </a:r>
            <a:r>
              <a:rPr lang="ru-RU" dirty="0"/>
              <a:t>::</a:t>
            </a:r>
            <a:r>
              <a:rPr lang="ru-RU" dirty="0" err="1"/>
              <a:t>date</a:t>
            </a:r>
            <a:r>
              <a:rPr lang="ru-RU" dirty="0"/>
              <a:t> AS </a:t>
            </a:r>
            <a:r>
              <a:rPr lang="ru-RU" dirty="0" err="1"/>
              <a:t>payment_date</a:t>
            </a:r>
            <a:r>
              <a:rPr lang="ru-RU" dirty="0"/>
              <a:t>,</a:t>
            </a:r>
          </a:p>
          <a:p>
            <a:r>
              <a:rPr lang="ru-RU" dirty="0"/>
              <a:t>    CASE EXTRACT(ISODOW FROM </a:t>
            </a:r>
            <a:r>
              <a:rPr lang="ru-RU" dirty="0" err="1"/>
              <a:t>payment_date</a:t>
            </a:r>
            <a:r>
              <a:rPr lang="ru-RU" dirty="0"/>
              <a:t>)</a:t>
            </a:r>
          </a:p>
          <a:p>
            <a:r>
              <a:rPr lang="ru-RU" dirty="0"/>
              <a:t>        WHEN 1 THEN 'Понедельник'</a:t>
            </a:r>
          </a:p>
          <a:p>
            <a:r>
              <a:rPr lang="ru-RU" dirty="0"/>
              <a:t>        WHEN 2 THEN 'Вторник'</a:t>
            </a:r>
          </a:p>
          <a:p>
            <a:r>
              <a:rPr lang="ru-RU" dirty="0"/>
              <a:t>        WHEN 3 THEN 'Среда'</a:t>
            </a:r>
          </a:p>
          <a:p>
            <a:r>
              <a:rPr lang="ru-RU" dirty="0"/>
              <a:t>        WHEN 4 THEN 'Четверг'</a:t>
            </a:r>
          </a:p>
          <a:p>
            <a:r>
              <a:rPr lang="ru-RU" dirty="0"/>
              <a:t>        WHEN 5 THEN 'Пятница'</a:t>
            </a:r>
          </a:p>
          <a:p>
            <a:r>
              <a:rPr lang="ru-RU" dirty="0"/>
              <a:t>        WHEN 6 THEN 'Суббота'</a:t>
            </a:r>
          </a:p>
          <a:p>
            <a:r>
              <a:rPr lang="ru-RU" dirty="0"/>
              <a:t>        WHEN 7 THEN 'Воскресенье'</a:t>
            </a:r>
          </a:p>
          <a:p>
            <a:r>
              <a:rPr lang="ru-RU" dirty="0"/>
              <a:t>    END AS </a:t>
            </a:r>
            <a:r>
              <a:rPr lang="ru-RU" dirty="0" err="1"/>
              <a:t>day_of_week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payment</a:t>
            </a:r>
            <a:endParaRPr lang="ru-RU" dirty="0"/>
          </a:p>
          <a:p>
            <a:r>
              <a:rPr lang="ru-RU" dirty="0"/>
              <a:t>ORDER BY </a:t>
            </a:r>
            <a:r>
              <a:rPr lang="ru-RU" dirty="0" err="1"/>
              <a:t>payment_date</a:t>
            </a:r>
            <a:r>
              <a:rPr lang="ru-RU" dirty="0"/>
              <a:t>, </a:t>
            </a:r>
            <a:r>
              <a:rPr lang="ru-RU" dirty="0" err="1"/>
              <a:t>amount</a:t>
            </a:r>
            <a:r>
              <a:rPr lang="ru-RU" dirty="0"/>
              <a:t>;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CEB2040-69A9-FA12-DA33-3A04E9D02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449" y="1380453"/>
            <a:ext cx="3600281" cy="522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8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1F0EC-6944-EB17-61FF-53B70D13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A065C9-A250-8BB9-EBCD-578FC72D55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94EACDC-854F-FFA6-F31F-A5B50DC90F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CFF7E99-A139-E175-06F7-330093D7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Распределить фильмы в три категории по длительности: "Короткие": менее 70 мин, "Средние": 70 (</a:t>
            </a:r>
            <a:r>
              <a:rPr lang="ru-RU" dirty="0" err="1"/>
              <a:t>вкл</a:t>
            </a:r>
            <a:r>
              <a:rPr lang="ru-RU" dirty="0"/>
              <a:t>) - 130 (не </a:t>
            </a:r>
            <a:r>
              <a:rPr lang="ru-RU" dirty="0" err="1"/>
              <a:t>вкл</a:t>
            </a:r>
            <a:r>
              <a:rPr lang="ru-RU" dirty="0"/>
              <a:t>), "Длинные": больше или равно 130 мин. Рассчитать количество прокатов и количество фильмов в каждой такой категории. Если прокатов у фильма не было, не включать его в расчеты количества фильмов в категории (подумать над типом </a:t>
            </a:r>
            <a:r>
              <a:rPr lang="ru-RU" dirty="0" err="1"/>
              <a:t>джоина</a:t>
            </a:r>
            <a:r>
              <a:rPr lang="ru-RU" dirty="0"/>
              <a:t>). (Подсказка: количество фильмов и количество прокатов не будут одинаковыми, ведь фильм берут на прокат много раз)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03605-BD68-547A-1E0C-7B9934BA45FC}"/>
              </a:ext>
            </a:extLst>
          </p:cNvPr>
          <p:cNvSpPr txBox="1"/>
          <p:nvPr/>
        </p:nvSpPr>
        <p:spPr>
          <a:xfrm>
            <a:off x="1481379" y="3162944"/>
            <a:ext cx="609750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SELECT</a:t>
            </a:r>
          </a:p>
          <a:p>
            <a:r>
              <a:rPr lang="ru-RU" sz="1400" dirty="0"/>
              <a:t>    CASE</a:t>
            </a:r>
          </a:p>
          <a:p>
            <a:r>
              <a:rPr lang="ru-RU" sz="1400" dirty="0"/>
              <a:t>        WHEN </a:t>
            </a:r>
            <a:r>
              <a:rPr lang="ru-RU" sz="1400" dirty="0" err="1"/>
              <a:t>f.length</a:t>
            </a:r>
            <a:r>
              <a:rPr lang="ru-RU" sz="1400" dirty="0"/>
              <a:t> &lt; 70 THEN 'Короткие'</a:t>
            </a:r>
          </a:p>
          <a:p>
            <a:r>
              <a:rPr lang="ru-RU" sz="1400" dirty="0"/>
              <a:t>        WHEN </a:t>
            </a:r>
            <a:r>
              <a:rPr lang="ru-RU" sz="1400" dirty="0" err="1"/>
              <a:t>f.length</a:t>
            </a:r>
            <a:r>
              <a:rPr lang="ru-RU" sz="1400" dirty="0"/>
              <a:t> &gt;= 70 AND </a:t>
            </a:r>
            <a:r>
              <a:rPr lang="ru-RU" sz="1400" dirty="0" err="1"/>
              <a:t>f.length</a:t>
            </a:r>
            <a:r>
              <a:rPr lang="ru-RU" sz="1400" dirty="0"/>
              <a:t> &lt; 130 THEN 'Средние'</a:t>
            </a:r>
          </a:p>
          <a:p>
            <a:r>
              <a:rPr lang="ru-RU" sz="1400" dirty="0"/>
              <a:t>        ELSE 'Длинные'</a:t>
            </a:r>
          </a:p>
          <a:p>
            <a:r>
              <a:rPr lang="ru-RU" sz="1400" dirty="0"/>
              <a:t>    END AS </a:t>
            </a:r>
            <a:r>
              <a:rPr lang="ru-RU" sz="1400" dirty="0" err="1"/>
              <a:t>film_category</a:t>
            </a:r>
            <a:r>
              <a:rPr lang="ru-RU" sz="1400" dirty="0"/>
              <a:t>,</a:t>
            </a:r>
          </a:p>
          <a:p>
            <a:r>
              <a:rPr lang="ru-RU" sz="1400" dirty="0"/>
              <a:t>    COUNT(DISTINCT </a:t>
            </a:r>
            <a:r>
              <a:rPr lang="ru-RU" sz="1400" dirty="0" err="1"/>
              <a:t>f.film_id</a:t>
            </a:r>
            <a:r>
              <a:rPr lang="ru-RU" sz="1400" dirty="0"/>
              <a:t>) AS </a:t>
            </a:r>
            <a:r>
              <a:rPr lang="ru-RU" sz="1400" dirty="0" err="1"/>
              <a:t>films_count</a:t>
            </a:r>
            <a:r>
              <a:rPr lang="ru-RU" sz="1400" dirty="0"/>
              <a:t>,</a:t>
            </a:r>
          </a:p>
          <a:p>
            <a:r>
              <a:rPr lang="ru-RU" sz="1400" dirty="0"/>
              <a:t>    COUNT(</a:t>
            </a:r>
            <a:r>
              <a:rPr lang="ru-RU" sz="1400" dirty="0" err="1"/>
              <a:t>r.rental_id</a:t>
            </a:r>
            <a:r>
              <a:rPr lang="ru-RU" sz="1400" dirty="0"/>
              <a:t>) AS </a:t>
            </a:r>
            <a:r>
              <a:rPr lang="ru-RU" sz="1400" dirty="0" err="1"/>
              <a:t>rentals_count</a:t>
            </a:r>
            <a:endParaRPr lang="ru-RU" sz="1400" dirty="0"/>
          </a:p>
          <a:p>
            <a:r>
              <a:rPr lang="ru-RU" sz="1400" dirty="0"/>
              <a:t>FROM </a:t>
            </a:r>
            <a:r>
              <a:rPr lang="ru-RU" sz="1400" dirty="0" err="1"/>
              <a:t>film</a:t>
            </a:r>
            <a:r>
              <a:rPr lang="ru-RU" sz="1400" dirty="0"/>
              <a:t> f</a:t>
            </a:r>
          </a:p>
          <a:p>
            <a:r>
              <a:rPr lang="ru-RU" sz="1400" dirty="0"/>
              <a:t>JOIN </a:t>
            </a:r>
            <a:r>
              <a:rPr lang="ru-RU" sz="1400" dirty="0" err="1"/>
              <a:t>inventory</a:t>
            </a:r>
            <a:r>
              <a:rPr lang="ru-RU" sz="1400" dirty="0"/>
              <a:t> i</a:t>
            </a:r>
          </a:p>
          <a:p>
            <a:r>
              <a:rPr lang="ru-RU" sz="1400" dirty="0"/>
              <a:t>    ON </a:t>
            </a:r>
            <a:r>
              <a:rPr lang="ru-RU" sz="1400" dirty="0" err="1"/>
              <a:t>i.film_id</a:t>
            </a:r>
            <a:r>
              <a:rPr lang="ru-RU" sz="1400" dirty="0"/>
              <a:t> = </a:t>
            </a:r>
            <a:r>
              <a:rPr lang="ru-RU" sz="1400" dirty="0" err="1"/>
              <a:t>f.film_id</a:t>
            </a:r>
            <a:endParaRPr lang="ru-RU" sz="1400" dirty="0"/>
          </a:p>
          <a:p>
            <a:r>
              <a:rPr lang="ru-RU" sz="1400" dirty="0"/>
              <a:t>JOIN </a:t>
            </a:r>
            <a:r>
              <a:rPr lang="ru-RU" sz="1400" dirty="0" err="1"/>
              <a:t>rental</a:t>
            </a:r>
            <a:r>
              <a:rPr lang="ru-RU" sz="1400" dirty="0"/>
              <a:t> r</a:t>
            </a:r>
          </a:p>
          <a:p>
            <a:r>
              <a:rPr lang="ru-RU" sz="1400" dirty="0"/>
              <a:t>    ON </a:t>
            </a:r>
            <a:r>
              <a:rPr lang="ru-RU" sz="1400" dirty="0" err="1"/>
              <a:t>r.inventory_id</a:t>
            </a:r>
            <a:r>
              <a:rPr lang="ru-RU" sz="1400" dirty="0"/>
              <a:t> = </a:t>
            </a:r>
            <a:r>
              <a:rPr lang="ru-RU" sz="1400" dirty="0" err="1"/>
              <a:t>i.inventory_id</a:t>
            </a:r>
            <a:endParaRPr lang="ru-RU" sz="1400" dirty="0"/>
          </a:p>
          <a:p>
            <a:r>
              <a:rPr lang="ru-RU" sz="1400" dirty="0"/>
              <a:t>GROUP BY </a:t>
            </a:r>
            <a:r>
              <a:rPr lang="ru-RU" sz="1400" dirty="0" err="1"/>
              <a:t>film_category</a:t>
            </a:r>
            <a:endParaRPr lang="ru-RU" sz="1400" dirty="0"/>
          </a:p>
          <a:p>
            <a:r>
              <a:rPr lang="ru-RU" sz="1400" dirty="0"/>
              <a:t>ORDER BY </a:t>
            </a:r>
            <a:r>
              <a:rPr lang="ru-RU" sz="1400" dirty="0" err="1"/>
              <a:t>film_category</a:t>
            </a:r>
            <a:r>
              <a:rPr lang="ru-RU" sz="1400" dirty="0"/>
              <a:t>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DAECCF-6763-C342-D819-755119023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660" y="3589263"/>
            <a:ext cx="4382112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32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9C12C-80DD-4E89-2342-2B082178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0BE8EB8-B2E2-41E6-94DC-B0D10109BE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98F7D5A-3F1F-2D1A-D86F-49EFA33336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C42E377-7EFA-0041-EB4C-6B7EF6B3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Рассчитать накопленную сумму недельной выручки бизнеса. Вывести всю таблицу </a:t>
            </a:r>
            <a:r>
              <a:rPr lang="ru-RU" dirty="0" err="1"/>
              <a:t>weekly_revenue</a:t>
            </a:r>
            <a:r>
              <a:rPr lang="ru-RU" dirty="0"/>
              <a:t> с дополнительным столбцом с накопленной суммой. Округлить накопленную выручку до целого числа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A8D62-CB8A-26D6-EBAB-EDC4897A9849}"/>
              </a:ext>
            </a:extLst>
          </p:cNvPr>
          <p:cNvSpPr txBox="1"/>
          <p:nvPr/>
        </p:nvSpPr>
        <p:spPr>
          <a:xfrm>
            <a:off x="1481379" y="210586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DROP TABLE IF EXISTS weekly_revenue;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DB56D-E7F2-EBA1-D593-95630AE50231}"/>
              </a:ext>
            </a:extLst>
          </p:cNvPr>
          <p:cNvSpPr txBox="1"/>
          <p:nvPr/>
        </p:nvSpPr>
        <p:spPr>
          <a:xfrm>
            <a:off x="1481379" y="2778700"/>
            <a:ext cx="60975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CREATE TABLE </a:t>
            </a:r>
            <a:r>
              <a:rPr lang="ru-RU" dirty="0" err="1"/>
              <a:t>weekly_revenue</a:t>
            </a:r>
            <a:r>
              <a:rPr lang="ru-RU" dirty="0"/>
              <a:t> AS</a:t>
            </a:r>
          </a:p>
          <a:p>
            <a:r>
              <a:rPr lang="ru-RU" dirty="0"/>
              <a:t>SELECT</a:t>
            </a:r>
          </a:p>
          <a:p>
            <a:r>
              <a:rPr lang="ru-RU" dirty="0"/>
              <a:t>    EXTRACT(YEAR FROM </a:t>
            </a:r>
            <a:r>
              <a:rPr lang="ru-RU" dirty="0" err="1"/>
              <a:t>rental_date</a:t>
            </a:r>
            <a:r>
              <a:rPr lang="ru-RU" dirty="0"/>
              <a:t>) AS </a:t>
            </a:r>
            <a:r>
              <a:rPr lang="ru-RU" dirty="0" err="1"/>
              <a:t>r_year</a:t>
            </a:r>
            <a:r>
              <a:rPr lang="ru-RU" dirty="0"/>
              <a:t>,</a:t>
            </a:r>
          </a:p>
          <a:p>
            <a:r>
              <a:rPr lang="ru-RU" dirty="0"/>
              <a:t>    EXTRACT(WEEK FROM </a:t>
            </a:r>
            <a:r>
              <a:rPr lang="ru-RU" dirty="0" err="1"/>
              <a:t>rental_date</a:t>
            </a:r>
            <a:r>
              <a:rPr lang="ru-RU" dirty="0"/>
              <a:t>) AS </a:t>
            </a:r>
            <a:r>
              <a:rPr lang="ru-RU" dirty="0" err="1"/>
              <a:t>r_week</a:t>
            </a:r>
            <a:r>
              <a:rPr lang="ru-RU" dirty="0"/>
              <a:t>,</a:t>
            </a:r>
          </a:p>
          <a:p>
            <a:r>
              <a:rPr lang="ru-RU" dirty="0"/>
              <a:t>    SUM(</a:t>
            </a:r>
            <a:r>
              <a:rPr lang="ru-RU" dirty="0" err="1"/>
              <a:t>amount</a:t>
            </a:r>
            <a:r>
              <a:rPr lang="ru-RU" dirty="0"/>
              <a:t>) AS </a:t>
            </a:r>
            <a:r>
              <a:rPr lang="ru-RU" dirty="0" err="1"/>
              <a:t>revenue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rental</a:t>
            </a:r>
            <a:r>
              <a:rPr lang="ru-RU" dirty="0"/>
              <a:t> r</a:t>
            </a:r>
          </a:p>
          <a:p>
            <a:r>
              <a:rPr lang="ru-RU" dirty="0"/>
              <a:t>LEFT JOIN </a:t>
            </a:r>
            <a:r>
              <a:rPr lang="ru-RU" dirty="0" err="1"/>
              <a:t>payment</a:t>
            </a:r>
            <a:r>
              <a:rPr lang="ru-RU" dirty="0"/>
              <a:t> p</a:t>
            </a:r>
          </a:p>
          <a:p>
            <a:r>
              <a:rPr lang="ru-RU" dirty="0"/>
              <a:t>    ON </a:t>
            </a:r>
            <a:r>
              <a:rPr lang="ru-RU" dirty="0" err="1"/>
              <a:t>p.rental_id</a:t>
            </a:r>
            <a:r>
              <a:rPr lang="ru-RU" dirty="0"/>
              <a:t> = </a:t>
            </a:r>
            <a:r>
              <a:rPr lang="ru-RU" dirty="0" err="1"/>
              <a:t>r.rental_id</a:t>
            </a:r>
            <a:endParaRPr lang="ru-RU" dirty="0"/>
          </a:p>
          <a:p>
            <a:r>
              <a:rPr lang="ru-RU" dirty="0"/>
              <a:t>GROUP BY 1, 2</a:t>
            </a:r>
          </a:p>
          <a:p>
            <a:r>
              <a:rPr lang="ru-RU" dirty="0"/>
              <a:t>ORDER BY 1, 2;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C9963-4D86-8981-89AD-C87A32C40C03}"/>
              </a:ext>
            </a:extLst>
          </p:cNvPr>
          <p:cNvSpPr txBox="1"/>
          <p:nvPr/>
        </p:nvSpPr>
        <p:spPr>
          <a:xfrm>
            <a:off x="1481379" y="5770201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 *</a:t>
            </a:r>
          </a:p>
          <a:p>
            <a:r>
              <a:rPr lang="ru-RU" dirty="0"/>
              <a:t>FROM </a:t>
            </a:r>
            <a:r>
              <a:rPr lang="ru-RU" dirty="0" err="1"/>
              <a:t>weekly_revenue</a:t>
            </a:r>
            <a:r>
              <a:rPr lang="ru-RU" dirty="0"/>
              <a:t>;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6E80578-1EDD-BE60-88F3-B38F4DCF7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58" y="4158792"/>
            <a:ext cx="3534268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72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0C88B-8D69-A6D9-FC71-CB30B550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79C0412-5E2C-60D5-9D7B-230219B6AA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7014FB3-AAFE-2CFD-0B04-5D5A78515B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F7F513C-EA49-E57D-17F4-0FA421093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Рассчитать накопленную сумму недельной выручки бизнеса. Вывести всю таблицу </a:t>
            </a:r>
            <a:r>
              <a:rPr lang="ru-RU" dirty="0" err="1"/>
              <a:t>weekly_revenue</a:t>
            </a:r>
            <a:r>
              <a:rPr lang="ru-RU" dirty="0"/>
              <a:t> с дополнительным столбцом с накопленной суммой. Округлить накопленную выручку до целого числа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50CC1-83E8-81D1-A082-176C4A187F28}"/>
              </a:ext>
            </a:extLst>
          </p:cNvPr>
          <p:cNvSpPr txBox="1"/>
          <p:nvPr/>
        </p:nvSpPr>
        <p:spPr>
          <a:xfrm>
            <a:off x="1481379" y="2431010"/>
            <a:ext cx="60975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</a:t>
            </a:r>
          </a:p>
          <a:p>
            <a:r>
              <a:rPr lang="ru-RU" dirty="0"/>
              <a:t>    </a:t>
            </a:r>
            <a:r>
              <a:rPr lang="ru-RU" dirty="0" err="1"/>
              <a:t>r_year</a:t>
            </a:r>
            <a:r>
              <a:rPr lang="ru-RU" dirty="0"/>
              <a:t>,</a:t>
            </a:r>
          </a:p>
          <a:p>
            <a:r>
              <a:rPr lang="ru-RU" dirty="0"/>
              <a:t>    </a:t>
            </a:r>
            <a:r>
              <a:rPr lang="ru-RU" dirty="0" err="1"/>
              <a:t>r_week</a:t>
            </a:r>
            <a:r>
              <a:rPr lang="ru-RU" dirty="0"/>
              <a:t>,</a:t>
            </a:r>
          </a:p>
          <a:p>
            <a:r>
              <a:rPr lang="ru-RU" dirty="0"/>
              <a:t>    </a:t>
            </a:r>
            <a:r>
              <a:rPr lang="ru-RU" dirty="0" err="1"/>
              <a:t>revenue</a:t>
            </a:r>
            <a:r>
              <a:rPr lang="ru-RU" dirty="0"/>
              <a:t>,</a:t>
            </a:r>
          </a:p>
          <a:p>
            <a:r>
              <a:rPr lang="ru-RU" dirty="0"/>
              <a:t>    ROUND(SUM(</a:t>
            </a:r>
            <a:r>
              <a:rPr lang="ru-RU" dirty="0" err="1"/>
              <a:t>revenue</a:t>
            </a:r>
            <a:r>
              <a:rPr lang="ru-RU" dirty="0"/>
              <a:t>) OVER (ORDER BY </a:t>
            </a:r>
            <a:r>
              <a:rPr lang="ru-RU" dirty="0" err="1"/>
              <a:t>r_year</a:t>
            </a:r>
            <a:r>
              <a:rPr lang="ru-RU" dirty="0"/>
              <a:t>, </a:t>
            </a:r>
            <a:r>
              <a:rPr lang="ru-RU" dirty="0" err="1"/>
              <a:t>r_week</a:t>
            </a:r>
            <a:r>
              <a:rPr lang="ru-RU" dirty="0"/>
              <a:t>), 0) AS </a:t>
            </a:r>
            <a:r>
              <a:rPr lang="ru-RU" dirty="0" err="1"/>
              <a:t>cumulative_revenue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weekly_revenue</a:t>
            </a:r>
            <a:endParaRPr lang="ru-RU" dirty="0"/>
          </a:p>
          <a:p>
            <a:r>
              <a:rPr lang="ru-RU" dirty="0"/>
              <a:t>ORDER BY </a:t>
            </a:r>
            <a:r>
              <a:rPr lang="ru-RU" dirty="0" err="1"/>
              <a:t>r_year</a:t>
            </a:r>
            <a:r>
              <a:rPr lang="ru-RU" dirty="0"/>
              <a:t>, </a:t>
            </a:r>
            <a:r>
              <a:rPr lang="ru-RU" dirty="0" err="1"/>
              <a:t>r_week</a:t>
            </a:r>
            <a:r>
              <a:rPr lang="ru-RU" dirty="0"/>
              <a:t>;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86368C1-7CAC-126A-99B3-AAA1CCBF6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396" y="4126437"/>
            <a:ext cx="5201376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27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06E5F-87C0-5246-2938-EE60426F0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D0D1970-73AA-CD20-8E63-7DA0401578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B1E3C4F-90AF-754C-5728-78806F0118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7FE0F04-9DB8-F2E9-4B9C-A7DCB038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Рассчитать скользящую среднюю недельной выручки бизнеса. Использовать неделю до, текущую неделю, и неделю после для расчета среднего значения. Вывести всю таблицу </a:t>
            </a:r>
            <a:r>
              <a:rPr lang="ru-RU" dirty="0" err="1"/>
              <a:t>weekly_revenue</a:t>
            </a:r>
            <a:r>
              <a:rPr lang="ru-RU" dirty="0"/>
              <a:t> с дополнительными столбцами с накопленной суммой и скользящей средней. Округлить скользящую среднюю до целого числа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CE09A-85D1-43B9-EA8A-53DFE19BDAAF}"/>
              </a:ext>
            </a:extLst>
          </p:cNvPr>
          <p:cNvSpPr txBox="1"/>
          <p:nvPr/>
        </p:nvSpPr>
        <p:spPr>
          <a:xfrm>
            <a:off x="297291" y="2262125"/>
            <a:ext cx="60975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SELECT</a:t>
            </a:r>
          </a:p>
          <a:p>
            <a:r>
              <a:rPr lang="ru-RU" dirty="0"/>
              <a:t>    </a:t>
            </a:r>
            <a:r>
              <a:rPr lang="ru-RU" dirty="0" err="1"/>
              <a:t>r_year</a:t>
            </a:r>
            <a:r>
              <a:rPr lang="ru-RU" dirty="0"/>
              <a:t>,</a:t>
            </a:r>
          </a:p>
          <a:p>
            <a:r>
              <a:rPr lang="ru-RU" dirty="0"/>
              <a:t>    </a:t>
            </a:r>
            <a:r>
              <a:rPr lang="ru-RU" dirty="0" err="1"/>
              <a:t>r_week</a:t>
            </a:r>
            <a:r>
              <a:rPr lang="ru-RU" dirty="0"/>
              <a:t>,</a:t>
            </a:r>
          </a:p>
          <a:p>
            <a:r>
              <a:rPr lang="ru-RU" dirty="0"/>
              <a:t>    </a:t>
            </a:r>
            <a:r>
              <a:rPr lang="ru-RU" dirty="0" err="1"/>
              <a:t>revenue</a:t>
            </a:r>
            <a:r>
              <a:rPr lang="ru-RU" dirty="0"/>
              <a:t>,</a:t>
            </a:r>
          </a:p>
          <a:p>
            <a:r>
              <a:rPr lang="ru-RU" dirty="0"/>
              <a:t>    ROUND(SUM(</a:t>
            </a:r>
            <a:r>
              <a:rPr lang="ru-RU" dirty="0" err="1"/>
              <a:t>revenue</a:t>
            </a:r>
            <a:r>
              <a:rPr lang="ru-RU" dirty="0"/>
              <a:t>) OVER (ORDER BY </a:t>
            </a:r>
            <a:r>
              <a:rPr lang="ru-RU" dirty="0" err="1"/>
              <a:t>r_year</a:t>
            </a:r>
            <a:r>
              <a:rPr lang="ru-RU" dirty="0"/>
              <a:t>, </a:t>
            </a:r>
            <a:r>
              <a:rPr lang="ru-RU" dirty="0" err="1"/>
              <a:t>r_week</a:t>
            </a:r>
            <a:r>
              <a:rPr lang="ru-RU" dirty="0"/>
              <a:t>), 0) AS </a:t>
            </a:r>
            <a:r>
              <a:rPr lang="ru-RU" dirty="0" err="1"/>
              <a:t>cumulative_revenue</a:t>
            </a:r>
            <a:r>
              <a:rPr lang="ru-RU" dirty="0"/>
              <a:t>,</a:t>
            </a:r>
          </a:p>
          <a:p>
            <a:r>
              <a:rPr lang="ru-RU" dirty="0"/>
              <a:t>    ROUND(</a:t>
            </a:r>
          </a:p>
          <a:p>
            <a:r>
              <a:rPr lang="ru-RU" dirty="0"/>
              <a:t>        AVG(</a:t>
            </a:r>
            <a:r>
              <a:rPr lang="ru-RU" dirty="0" err="1"/>
              <a:t>revenue</a:t>
            </a:r>
            <a:r>
              <a:rPr lang="ru-RU" dirty="0"/>
              <a:t>) OVER (</a:t>
            </a:r>
          </a:p>
          <a:p>
            <a:r>
              <a:rPr lang="ru-RU" dirty="0"/>
              <a:t>            ORDER BY </a:t>
            </a:r>
            <a:r>
              <a:rPr lang="ru-RU" dirty="0" err="1"/>
              <a:t>r_year</a:t>
            </a:r>
            <a:r>
              <a:rPr lang="ru-RU" dirty="0"/>
              <a:t>, </a:t>
            </a:r>
            <a:r>
              <a:rPr lang="ru-RU" dirty="0" err="1"/>
              <a:t>r_week</a:t>
            </a:r>
            <a:endParaRPr lang="ru-RU" dirty="0"/>
          </a:p>
          <a:p>
            <a:r>
              <a:rPr lang="ru-RU" dirty="0"/>
              <a:t>            ROWS BETWEEN 1 PRECEDING AND 1 FOLLOWING</a:t>
            </a:r>
          </a:p>
          <a:p>
            <a:r>
              <a:rPr lang="ru-RU" dirty="0"/>
              <a:t>        ),</a:t>
            </a:r>
          </a:p>
          <a:p>
            <a:r>
              <a:rPr lang="ru-RU" dirty="0"/>
              <a:t>        0</a:t>
            </a:r>
          </a:p>
          <a:p>
            <a:r>
              <a:rPr lang="ru-RU" dirty="0"/>
              <a:t>    ) AS </a:t>
            </a:r>
            <a:r>
              <a:rPr lang="ru-RU" dirty="0" err="1"/>
              <a:t>moving_average</a:t>
            </a:r>
            <a:endParaRPr lang="ru-RU" dirty="0"/>
          </a:p>
          <a:p>
            <a:r>
              <a:rPr lang="ru-RU" dirty="0"/>
              <a:t>FROM </a:t>
            </a:r>
            <a:r>
              <a:rPr lang="ru-RU" dirty="0" err="1"/>
              <a:t>weekly_revenue</a:t>
            </a:r>
            <a:endParaRPr lang="ru-RU" dirty="0"/>
          </a:p>
          <a:p>
            <a:r>
              <a:rPr lang="ru-RU" dirty="0"/>
              <a:t>ORDER BY </a:t>
            </a:r>
            <a:r>
              <a:rPr lang="ru-RU" dirty="0" err="1"/>
              <a:t>r_year</a:t>
            </a:r>
            <a:r>
              <a:rPr lang="ru-RU" dirty="0"/>
              <a:t>, </a:t>
            </a:r>
            <a:r>
              <a:rPr lang="ru-RU" dirty="0" err="1"/>
              <a:t>r_week</a:t>
            </a:r>
            <a:r>
              <a:rPr lang="ru-RU" dirty="0"/>
              <a:t>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069AF8-B501-1A3A-72D9-6FEB8C319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330" y="3883936"/>
            <a:ext cx="6041489" cy="21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0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B4514-366F-7E93-887C-1533181DC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8A31DE-0CB0-55AA-2C88-6E8EB170BD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8E8BDD-F17D-1A33-1CFB-CD6ECD90C1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AD87578-D9C7-33EC-2B7A-DA6351B99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>
            <a:normAutofit fontScale="90000"/>
          </a:bodyPr>
          <a:lstStyle/>
          <a:p>
            <a:r>
              <a:rPr lang="ru-RU" dirty="0"/>
              <a:t>Посчитать прирост недельной выручки бизнеса в %. </a:t>
            </a:r>
            <a:br>
              <a:rPr lang="ru-RU" dirty="0"/>
            </a:br>
            <a:r>
              <a:rPr lang="ru-RU" dirty="0"/>
              <a:t>Вывести всю таблицу </a:t>
            </a:r>
            <a:r>
              <a:rPr lang="ru-RU" dirty="0" err="1"/>
              <a:t>weekly_revenue</a:t>
            </a:r>
            <a:r>
              <a:rPr lang="ru-RU" dirty="0"/>
              <a:t> с дополнительными столбцами с накопленной суммой, скользящей средней и приростом. Округлить прирост в процентах до 2 знаков после запятой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7CE2E-7AFC-5641-396E-1567DEE6A309}"/>
              </a:ext>
            </a:extLst>
          </p:cNvPr>
          <p:cNvSpPr txBox="1"/>
          <p:nvPr/>
        </p:nvSpPr>
        <p:spPr>
          <a:xfrm>
            <a:off x="486625" y="1892217"/>
            <a:ext cx="60975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SELECT</a:t>
            </a:r>
          </a:p>
          <a:p>
            <a:r>
              <a:rPr lang="ru-RU" sz="1200" dirty="0"/>
              <a:t>    </a:t>
            </a:r>
            <a:r>
              <a:rPr lang="ru-RU" sz="1200" dirty="0" err="1"/>
              <a:t>r_year</a:t>
            </a:r>
            <a:r>
              <a:rPr lang="ru-RU" sz="1200" dirty="0"/>
              <a:t>,</a:t>
            </a:r>
          </a:p>
          <a:p>
            <a:r>
              <a:rPr lang="ru-RU" sz="1200" dirty="0"/>
              <a:t>    </a:t>
            </a:r>
            <a:r>
              <a:rPr lang="ru-RU" sz="1200" dirty="0" err="1"/>
              <a:t>r_week</a:t>
            </a:r>
            <a:r>
              <a:rPr lang="ru-RU" sz="1200" dirty="0"/>
              <a:t>,</a:t>
            </a:r>
          </a:p>
          <a:p>
            <a:r>
              <a:rPr lang="ru-RU" sz="1200" dirty="0"/>
              <a:t>    </a:t>
            </a:r>
            <a:r>
              <a:rPr lang="ru-RU" sz="1200" dirty="0" err="1"/>
              <a:t>revenue</a:t>
            </a:r>
            <a:r>
              <a:rPr lang="ru-RU" sz="1200" dirty="0"/>
              <a:t>,</a:t>
            </a:r>
          </a:p>
          <a:p>
            <a:r>
              <a:rPr lang="ru-RU" sz="1200" dirty="0"/>
              <a:t>    ROUND(SUM(</a:t>
            </a:r>
            <a:r>
              <a:rPr lang="ru-RU" sz="1200" dirty="0" err="1"/>
              <a:t>revenue</a:t>
            </a:r>
            <a:r>
              <a:rPr lang="ru-RU" sz="1200" dirty="0"/>
              <a:t>) OVER (ORDER BY </a:t>
            </a:r>
            <a:r>
              <a:rPr lang="ru-RU" sz="1200" dirty="0" err="1"/>
              <a:t>r_year</a:t>
            </a:r>
            <a:r>
              <a:rPr lang="ru-RU" sz="1200" dirty="0"/>
              <a:t>, </a:t>
            </a:r>
            <a:r>
              <a:rPr lang="ru-RU" sz="1200" dirty="0" err="1"/>
              <a:t>r_week</a:t>
            </a:r>
            <a:r>
              <a:rPr lang="ru-RU" sz="1200" dirty="0"/>
              <a:t>), 0) AS </a:t>
            </a:r>
            <a:r>
              <a:rPr lang="ru-RU" sz="1200" dirty="0" err="1"/>
              <a:t>cumulative_revenue</a:t>
            </a:r>
            <a:r>
              <a:rPr lang="ru-RU" sz="1200" dirty="0"/>
              <a:t>,</a:t>
            </a:r>
          </a:p>
          <a:p>
            <a:r>
              <a:rPr lang="ru-RU" sz="1200" dirty="0"/>
              <a:t>    ROUND(</a:t>
            </a:r>
          </a:p>
          <a:p>
            <a:r>
              <a:rPr lang="ru-RU" sz="1200" dirty="0"/>
              <a:t>        AVG(</a:t>
            </a:r>
            <a:r>
              <a:rPr lang="ru-RU" sz="1200" dirty="0" err="1"/>
              <a:t>revenue</a:t>
            </a:r>
            <a:r>
              <a:rPr lang="ru-RU" sz="1200" dirty="0"/>
              <a:t>) OVER (</a:t>
            </a:r>
          </a:p>
          <a:p>
            <a:r>
              <a:rPr lang="ru-RU" sz="1200" dirty="0"/>
              <a:t>            ORDER BY </a:t>
            </a:r>
            <a:r>
              <a:rPr lang="ru-RU" sz="1200" dirty="0" err="1"/>
              <a:t>r_year</a:t>
            </a:r>
            <a:r>
              <a:rPr lang="ru-RU" sz="1200" dirty="0"/>
              <a:t>, </a:t>
            </a:r>
            <a:r>
              <a:rPr lang="ru-RU" sz="1200" dirty="0" err="1"/>
              <a:t>r_week</a:t>
            </a:r>
            <a:endParaRPr lang="ru-RU" sz="1200" dirty="0"/>
          </a:p>
          <a:p>
            <a:r>
              <a:rPr lang="ru-RU" sz="1200" dirty="0"/>
              <a:t>            ROWS BETWEEN 1 PRECEDING AND 1 FOLLOWING</a:t>
            </a:r>
          </a:p>
          <a:p>
            <a:r>
              <a:rPr lang="ru-RU" sz="1200" dirty="0"/>
              <a:t>        ),</a:t>
            </a:r>
          </a:p>
          <a:p>
            <a:r>
              <a:rPr lang="ru-RU" sz="1200" dirty="0"/>
              <a:t>        0</a:t>
            </a:r>
          </a:p>
          <a:p>
            <a:r>
              <a:rPr lang="ru-RU" sz="1200" dirty="0"/>
              <a:t>    ) AS </a:t>
            </a:r>
            <a:r>
              <a:rPr lang="ru-RU" sz="1200" dirty="0" err="1"/>
              <a:t>moving_average</a:t>
            </a:r>
            <a:r>
              <a:rPr lang="ru-RU" sz="1200" dirty="0"/>
              <a:t>,</a:t>
            </a:r>
          </a:p>
          <a:p>
            <a:r>
              <a:rPr lang="ru-RU" sz="1200" dirty="0"/>
              <a:t>    ROUND(</a:t>
            </a:r>
          </a:p>
          <a:p>
            <a:r>
              <a:rPr lang="ru-RU" sz="1200" dirty="0"/>
              <a:t>        CASE</a:t>
            </a:r>
          </a:p>
          <a:p>
            <a:r>
              <a:rPr lang="ru-RU" sz="1200" dirty="0"/>
              <a:t>            WHEN LAG(</a:t>
            </a:r>
            <a:r>
              <a:rPr lang="ru-RU" sz="1200" dirty="0" err="1"/>
              <a:t>revenue</a:t>
            </a:r>
            <a:r>
              <a:rPr lang="ru-RU" sz="1200" dirty="0"/>
              <a:t>) OVER (ORDER BY </a:t>
            </a:r>
            <a:r>
              <a:rPr lang="ru-RU" sz="1200" dirty="0" err="1"/>
              <a:t>r_year</a:t>
            </a:r>
            <a:r>
              <a:rPr lang="ru-RU" sz="1200" dirty="0"/>
              <a:t>, </a:t>
            </a:r>
            <a:r>
              <a:rPr lang="ru-RU" sz="1200" dirty="0" err="1"/>
              <a:t>r_week</a:t>
            </a:r>
            <a:r>
              <a:rPr lang="ru-RU" sz="1200" dirty="0"/>
              <a:t>) IS NULL THEN NULL</a:t>
            </a:r>
          </a:p>
          <a:p>
            <a:r>
              <a:rPr lang="ru-RU" sz="1200" dirty="0"/>
              <a:t>            WHEN LAG(</a:t>
            </a:r>
            <a:r>
              <a:rPr lang="ru-RU" sz="1200" dirty="0" err="1"/>
              <a:t>revenue</a:t>
            </a:r>
            <a:r>
              <a:rPr lang="ru-RU" sz="1200" dirty="0"/>
              <a:t>) OVER (ORDER BY </a:t>
            </a:r>
            <a:r>
              <a:rPr lang="ru-RU" sz="1200" dirty="0" err="1"/>
              <a:t>r_year</a:t>
            </a:r>
            <a:r>
              <a:rPr lang="ru-RU" sz="1200" dirty="0"/>
              <a:t>, </a:t>
            </a:r>
            <a:r>
              <a:rPr lang="ru-RU" sz="1200" dirty="0" err="1"/>
              <a:t>r_week</a:t>
            </a:r>
            <a:r>
              <a:rPr lang="ru-RU" sz="1200" dirty="0"/>
              <a:t>) = 0 THEN NULL</a:t>
            </a:r>
          </a:p>
          <a:p>
            <a:r>
              <a:rPr lang="ru-RU" sz="1200" dirty="0"/>
              <a:t>            ELSE</a:t>
            </a:r>
          </a:p>
          <a:p>
            <a:r>
              <a:rPr lang="ru-RU" sz="1200" dirty="0"/>
              <a:t>                (</a:t>
            </a:r>
            <a:r>
              <a:rPr lang="ru-RU" sz="1200" dirty="0" err="1"/>
              <a:t>revenue</a:t>
            </a:r>
            <a:r>
              <a:rPr lang="ru-RU" sz="1200" dirty="0"/>
              <a:t> - LAG(</a:t>
            </a:r>
            <a:r>
              <a:rPr lang="ru-RU" sz="1200" dirty="0" err="1"/>
              <a:t>revenue</a:t>
            </a:r>
            <a:r>
              <a:rPr lang="ru-RU" sz="1200" dirty="0"/>
              <a:t>) OVER (ORDER BY </a:t>
            </a:r>
            <a:r>
              <a:rPr lang="ru-RU" sz="1200" dirty="0" err="1"/>
              <a:t>r_year</a:t>
            </a:r>
            <a:r>
              <a:rPr lang="ru-RU" sz="1200" dirty="0"/>
              <a:t>, </a:t>
            </a:r>
            <a:r>
              <a:rPr lang="ru-RU" sz="1200" dirty="0" err="1"/>
              <a:t>r_week</a:t>
            </a:r>
            <a:r>
              <a:rPr lang="ru-RU" sz="1200" dirty="0"/>
              <a:t>))</a:t>
            </a:r>
          </a:p>
          <a:p>
            <a:r>
              <a:rPr lang="ru-RU" sz="1200" dirty="0"/>
              <a:t>                / LAG(</a:t>
            </a:r>
            <a:r>
              <a:rPr lang="ru-RU" sz="1200" dirty="0" err="1"/>
              <a:t>revenue</a:t>
            </a:r>
            <a:r>
              <a:rPr lang="ru-RU" sz="1200" dirty="0"/>
              <a:t>) OVER (ORDER BY </a:t>
            </a:r>
            <a:r>
              <a:rPr lang="ru-RU" sz="1200" dirty="0" err="1"/>
              <a:t>r_year</a:t>
            </a:r>
            <a:r>
              <a:rPr lang="ru-RU" sz="1200" dirty="0"/>
              <a:t>, </a:t>
            </a:r>
            <a:r>
              <a:rPr lang="ru-RU" sz="1200" dirty="0" err="1"/>
              <a:t>r_week</a:t>
            </a:r>
            <a:r>
              <a:rPr lang="ru-RU" sz="1200" dirty="0"/>
              <a:t>) * 100</a:t>
            </a:r>
          </a:p>
          <a:p>
            <a:r>
              <a:rPr lang="ru-RU" sz="1200" dirty="0"/>
              <a:t>        END,</a:t>
            </a:r>
          </a:p>
          <a:p>
            <a:r>
              <a:rPr lang="ru-RU" sz="1200" dirty="0"/>
              <a:t>        2</a:t>
            </a:r>
          </a:p>
          <a:p>
            <a:r>
              <a:rPr lang="ru-RU" sz="1200" dirty="0"/>
              <a:t>    ) AS </a:t>
            </a:r>
            <a:r>
              <a:rPr lang="ru-RU" sz="1200" dirty="0" err="1"/>
              <a:t>growth_percent</a:t>
            </a:r>
            <a:endParaRPr lang="ru-RU" sz="1200" dirty="0"/>
          </a:p>
          <a:p>
            <a:r>
              <a:rPr lang="ru-RU" sz="1200" dirty="0"/>
              <a:t>FROM </a:t>
            </a:r>
            <a:r>
              <a:rPr lang="ru-RU" sz="1200" dirty="0" err="1"/>
              <a:t>weekly_revenue</a:t>
            </a:r>
            <a:endParaRPr lang="ru-RU" sz="1200" dirty="0"/>
          </a:p>
          <a:p>
            <a:r>
              <a:rPr lang="ru-RU" sz="1200" dirty="0"/>
              <a:t>ORDER BY </a:t>
            </a:r>
            <a:r>
              <a:rPr lang="ru-RU" sz="1200" dirty="0" err="1"/>
              <a:t>r_year</a:t>
            </a:r>
            <a:r>
              <a:rPr lang="ru-RU" sz="1200" dirty="0"/>
              <a:t>, </a:t>
            </a:r>
            <a:r>
              <a:rPr lang="ru-RU" sz="1200" dirty="0" err="1"/>
              <a:t>r_week</a:t>
            </a:r>
            <a:r>
              <a:rPr lang="ru-RU" sz="1200" dirty="0"/>
              <a:t>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FDABE9-7E8B-FCAC-B40F-79780428F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624" y="3028650"/>
            <a:ext cx="6395102" cy="183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22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57DF-9098-70C0-0F5D-6F00DC983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9AC990C-7EA9-DED9-B374-F7CB2B9C4A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B9D541-D246-1F52-F5A2-4853AC8434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743EA74-398C-8173-F3B0-15AFAEC4C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1. Вывести список всех клиентов (</a:t>
            </a:r>
            <a:r>
              <a:rPr lang="ru-RU" dirty="0" err="1"/>
              <a:t>customer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01592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87019-BF5A-274D-6D12-08DF0BC7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A135A4-8559-7160-C708-F2164E62F5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1061087" y="454770"/>
            <a:ext cx="759370" cy="59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A851BD5-1DBF-D365-9383-D149019A9A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94600" y="279507"/>
            <a:ext cx="8266497" cy="1100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00E93D3-9D0D-5FCB-2502-91CD6439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79" y="441468"/>
            <a:ext cx="8445453" cy="777025"/>
          </a:xfrm>
        </p:spPr>
        <p:txBody>
          <a:bodyPr/>
          <a:lstStyle/>
          <a:p>
            <a:r>
              <a:rPr lang="ru-RU" dirty="0"/>
              <a:t>1. Вывести список всех клиентов (</a:t>
            </a:r>
            <a:r>
              <a:rPr lang="ru-RU" dirty="0" err="1"/>
              <a:t>customer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34060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http://purl.org/dc/dcmitype/"/>
    <ds:schemaRef ds:uri="9875bd71-cde8-496c-a136-433f55d5e6d0"/>
    <ds:schemaRef ds:uri="http://schemas.openxmlformats.org/package/2006/metadata/core-properties"/>
    <ds:schemaRef ds:uri="e96afe77-3acb-4328-97fc-408e1bde3ecd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3219</TotalTime>
  <Words>3349</Words>
  <Application>Microsoft Office PowerPoint</Application>
  <PresentationFormat>Широкоэкранный</PresentationFormat>
  <Paragraphs>312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HSE Sans</vt:lpstr>
      <vt:lpstr>Office Theme</vt:lpstr>
      <vt:lpstr>Домашнее задание по теме «Реляционные базы данных» </vt:lpstr>
      <vt:lpstr>dvd_rental</vt:lpstr>
      <vt:lpstr>1. Вывести список всех клиентов (customer)</vt:lpstr>
      <vt:lpstr>Вывести список имен и фамилий клиентов с именем Carolyn</vt:lpstr>
      <vt:lpstr>Вывести полные имена клиентов (имя + фамилия), имя или фамилия которых содержит “ary” (например: Mary, Geary), в одной колонке</vt:lpstr>
      <vt:lpstr>Вывести 20 самых крупных транзакций (payment)</vt:lpstr>
      <vt:lpstr>Вывести адреса всех магазинов (подзапрос)</vt:lpstr>
      <vt:lpstr>Вывести число, месяц и день недели в числовом эквиваленте (Понедельник - 1, Вторник - 2 ..) для каждой оплаты</vt:lpstr>
      <vt:lpstr>Вывести кто (customer_id), когда (rental_date) (привести к типу date) и у кого (staff_id) брал диски в аренду в Июне 2005 года</vt:lpstr>
      <vt:lpstr>Вывести название, описание и длительность фильмов (film), выпущенных после 2000 года. Включить только фильмы длительностью в интервале от 60 до 120 минут (включительно). Показать первые 20 фильмов по длительности (самые длинные).</vt:lpstr>
      <vt:lpstr>Найти все платежи (payment), совершенные в апреле 2007 года, чья стоимость не превышает 4 долларов. Показать идентификатор, дату (без времени) и стоимость платежа. Платежи отобразить в порядке убывания стоимости. При совпадении стоимости, отдать предпочтение более раннему платежу</vt:lpstr>
      <vt:lpstr>Показать имена, фамилии и идентификаторы всех клиентов с именами “Jack”, “Bob”, или “Sara”, чья фамилия содержит букву “p”. Переименовать колонку с именем в “Имя”, с идентификатором в “Идентификатор”, с фамилией в “Фамилия”. Клиентов отобразить в порядке возрастания их идентификатора</vt:lpstr>
      <vt:lpstr>*Создать таблицу студентов с полями: имя, фамилия, возраст, дата рождения и адрес. Все поля закрыты от внесения пустых данных. Внести в таблицу 1 студента с id &gt; 50. Посмотреть текущие записи таблицы. Внести несколько записей 1 запросом, используя автоинкремент id. Посмотреть текущие записи таблицы. Удалить 1 студента на выбор. Вывести полный список студентов. Удалить таблицу. Вывести результат запроса на выборку из таблицы студентов.</vt:lpstr>
      <vt:lpstr>Внести в таблицу 1 студента с id &gt; 50. Посмотреть текущие записи таблицы</vt:lpstr>
      <vt:lpstr>Внести несколько записей 1 запросом, используя автоинкремент id. Посмотреть текущие записи таблицы</vt:lpstr>
      <vt:lpstr>Удалить 1 студента на выбор. Вывести полный список студентов</vt:lpstr>
      <vt:lpstr>«JOIN и агрегатные функции» </vt:lpstr>
      <vt:lpstr>Вывести 5 самых частых сумм оплаты, их даты, количество и сумму платежей одинакового номинала </vt:lpstr>
      <vt:lpstr>Вывести число ячеек в инвентаре каждого магазина </vt:lpstr>
      <vt:lpstr>Вывести адреса всех магазинов (JOIN) </vt:lpstr>
      <vt:lpstr>Вывести полные имена всех клиентов и сотрудников в одну колонку </vt:lpstr>
      <vt:lpstr>Вывести имена клиентов, которые не совпадают с именами сотрудников (except) </vt:lpstr>
      <vt:lpstr>Вывести кто (customer_id), когда (rental_date) (привести к типу date) и у кого (staff_id) брал диски в аренду в Июне 2005 года </vt:lpstr>
      <vt:lpstr>Вывести id всех клиентов, которые имеют 40+ оплат. Посчитать средний размер транзакции для всех клиентов и округлить до 2 знаков, вывести в отдельный столбец </vt:lpstr>
      <vt:lpstr>Вывести id, полное имя актера и посчитать в скольких фильмах снялся. (Подсказка: подумать по какому полю сгруппировать: по имени или по id). Выяснить, какой актер снялся в бОльшем количестве фильмов </vt:lpstr>
      <vt:lpstr>Посчитать выручку в каждом месяце работы проката. Месяц должен рассчитываться по rental_date, а не по payment_date. Округлить выручку до одного знака после запятой. Отсортировать строки в хронологическом порядке. ( Подсказка: есть месяц проката, где выручки не было (нет данных о платежах) – он должен присутствовать в отчете) </vt:lpstr>
      <vt:lpstr>Найти средний платеж по каждому жанру фильма. Отобразить только те жанры, к которым относится более 60 различных фильмов. Округлить средний платеж до двух знаков после запятой. Дать названия столбцам. Отобразить жанры в порядке убывания среднего платежа </vt:lpstr>
      <vt:lpstr>Какие фильмы чаще всего берут напрокат по субботам? Показать названия первых 5 по популярности фильмов. Если у фильмов одинаковая популярность, отдать предпочтение первому по алфавиту. </vt:lpstr>
      <vt:lpstr>«Оконные функции, простые запросы, накопление» </vt:lpstr>
      <vt:lpstr>Распределить фильмы в три категории по длительности: "Короткие": менее 70 мин, "Средние": 70 (вкл) - 130 (не вкл), "Длинные": больше или равно 130 мин. Рассчитать количество прокатов и количество фильмов в каждой такой категории. Если прокатов у фильма не было, не включать его в расчеты количества фильмов в категории (подумать над типом джоина). (Подсказка: количество фильмов и количество прокатов не будут одинаковыми, ведь фильм берут на прокат много раз) </vt:lpstr>
      <vt:lpstr>Рассчитать накопленную сумму недельной выручки бизнеса. Вывести всю таблицу weekly_revenue с дополнительным столбцом с накопленной суммой. Округлить накопленную выручку до целого числа </vt:lpstr>
      <vt:lpstr>Рассчитать накопленную сумму недельной выручки бизнеса. Вывести всю таблицу weekly_revenue с дополнительным столбцом с накопленной суммой. Округлить накопленную выручку до целого числа </vt:lpstr>
      <vt:lpstr>Рассчитать скользящую среднюю недельной выручки бизнеса. Использовать неделю до, текущую неделю, и неделю после для расчета среднего значения. Вывести всю таблицу weekly_revenue с дополнительными столбцами с накопленной суммой и скользящей средней. Округлить скользящую среднюю до целого числа </vt:lpstr>
      <vt:lpstr>Посчитать прирост недельной выручки бизнеса в %.  Вывести всю таблицу weekly_revenue с дополнительными столбцами с накопленной суммой, скользящей средней и приростом. Округлить прирост в процентах до 2 знаков после запятой</vt:lpstr>
      <vt:lpstr>1. Вывести список всех клиентов (customer)</vt:lpstr>
      <vt:lpstr>1. Вывести список всех клиентов (customer)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Office</cp:lastModifiedBy>
  <cp:revision>49</cp:revision>
  <cp:lastPrinted>2021-11-11T13:08:42Z</cp:lastPrinted>
  <dcterms:created xsi:type="dcterms:W3CDTF">2021-11-11T08:52:47Z</dcterms:created>
  <dcterms:modified xsi:type="dcterms:W3CDTF">2026-03-24T20:38:46Z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